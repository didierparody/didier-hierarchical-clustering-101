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la práctica de clustering jerárquico. El dibujo de la derecha es un dendrograma: el tema de toda la charla. La línea roja muestra la idea clave: cortando el árbol a una altura obtenemos los grupos.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bloques: la idea, el funcionamiento, la historia y la implementación con scikit-learn.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diferencia central: k-means te obliga a decidir k antes de empezar. El clustering jerárquico construye todas las particiones de una vez, desde n grupos de un punto hasta un solo grupo, y el número de clusters se decide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aglomerativo es el que implementan SciPy y scikit-learn, y el que estudiamos. El divisivo exacto es intratable: hay 2 elevado a m−1, menos 1, formas de partir un grupo de m puntos en dos. Por eso se usan heurísticas como DIANA o bisecting k-means.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el algoritmo depende de estas dos elecciones. La distancia entre puntos depende de la escala de las variables, por eso escalamos con StandardScaler. El criterio de enlace decide qué forma de grupos favorece el algoritmo.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algoritmo es voraz y determinista: en cada paso toma la mejor decisión local y nunca la deshace. Tras n − 1 fusiones queda un solo cluster. Cada fusión se registra en la matriz Z con los dos clusters, la altura y el tamaño; con Z se dibuja el dendrograma. El paso 4 no recalcula desde cero: la fórmula de Lance–Williams obtiene la nueva distancia a partir de las anteriores.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Mismos dos grupos, cuatro formas de medir su distancia. La línea roja es lo que mide cada criterio. Single mira el par más cercano, complete el más lejano, average promedia todas las parejas y Ward compara los centroides, ponderados por el tamaño de los grupos. Ward es el valor por defecto en scikit-learn.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Valores calculados con scipy.cluster.hierarchy.linkage. Los tres primeros pasos coinciden porque solo se unen pares de puntos, y ahí todos los enlaces equivalen a la distancia entre esos dos puntos. En el paso 4, con grupos de más de un punto, cada criterio mide distinto y la jerarquía cambia.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dendrograma del ejemplo de 6 puntos con enlace single, dibujado a escala. La línea roja a altura 0.3 cruza tres ramas: tres clusters. Error frecuente: pensar que dos hojas vecinas se parecen. p5 y p0 están una al lado de la otra y solo se unen en la raíz.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del notebook. La barra de alturas muestra que las fusiones hasta k = 3 cuestan menos de 2 unidades, y la que pasa de 3 a 2 clusters cuesta 13. La silueta confirma el mismo valor. Siempre conviene combinar al menos dos criterios con el conocimiento del dominio.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tiene un único inventor. Nació del movimiento de la taxonomía numérica de los años 50 y 60: Sokal y Sneath querían clasificar seres vivos de forma objetiva y repetible con computador. Ward trabajaba en investigación de personal para la Fuerza Aérea de EE. UU. Johnson es el mismo que después escribió yacc en Bell Labs. En verde, el año 1963, cuando el campo toma 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colores agrupan épocas. En verde, los métodos originales, en biología y antropología. En azul, la consolidación teórica de 1963 a 1967. En naranja, los algoritmos eficientes y el software. En violeta, HDBSCAN, que combina la jerarquía de single linkage con densidad y entró en scikit-learn 1.3 en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violeta, la preparación y la exploración de la jerarquía, hecha con SciPy. En blanco, el modelo y su evaluación, con scikit-learn. Ojo: AgglomerativeClustering no tiene predict(). Para asignar puntos nuevos se entrena un clasificador, por ejemplo KNN, con las etiquetas obtenidas.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el caso fácil: todo funciona. A la derecha, dos medias lunas entrelazadas, que son grupos no convexos. Single "camina" por cada luna y las separa perfectamente. Complete, average y Ward buscan grupos redondos y cortan las lunas por la mitad. La silueta también favorece grupos redondos, por eso engaña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idea que deberían llevarse. Ward es un buen valor por defecto para grupos redondos, pero con formas alargadas o no convexas puede fallar. Hay que mirar los datos y comparar.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50 000 puntos, la matriz de distancias ocupa cerca de 10 GB. Para escalar, Géron recomienda pasar una matriz de conectividad, por ejemplo con kneighbors_graph, para que solo se consideren fusiones entre vecinos.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materiales están en el repositorio: el pseudocódigo, los diagramas y el notebook ejecutable.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DidierParody/didier-hierarchical-clustering-101/blob/claude/nice-faraday-xq523m/docs/diagramas.md#2-aglomerativo-vs-divisivo"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DidierParody/didier-hierarchical-clustering-101/blob/claude/nice-faraday-xq523m/docs/pseudocodigo.md#2-algoritmo-aglomerativo-versi&#243;n-b&#225;sica" TargetMode="External"/><Relationship Id="rId2" Type="http://schemas.openxmlformats.org/officeDocument/2006/relationships/hyperlink" Target="https://github.com/DidierParody/didier-hierarchical-clustering-101/blob/claude/nice-faraday-xq523m/docs/diagramas.md#1-algoritmo-aglomerativo"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hyperlink" Target="https://github.com/DidierParody/didier-hierarchical-clustering-101/blob/claude/nice-faraday-xq523m/docs/pseudocodigo.md#3-distancia-entre-clusters-criterios-de-enlace"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DidierParody/didier-hierarchical-clustering-101/blob/claude/nice-faraday-xq523m/docs/pseudocodigo.md#6-ejemplo-a-mano-con-6-puntos" TargetMode="External"/><Relationship Id="rId2" Type="http://schemas.openxmlformats.org/officeDocument/2006/relationships/hyperlink" Target="https://github.com/DidierParody/didier-hierarchical-clustering-101/blob/claude/nice-faraday-xq523m/docs/diagramas.md#4-dendrograma-del-ejemplo-single"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DidierParody/didier-hierarchical-clustering-101/blob/claude/nice-faraday-xq523m/docs/pseudocodigo.md#5-cortar-el-dendrograma" TargetMode="Externa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DidierParody/didier-hierarchical-clustering-101/blob/claude/nice-faraday-xq523m/docs/diagramas.md#8-l&#237;nea-de-tiempo"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DidierParody/didier-hierarchical-clustering-101/blob/claude/nice-faraday-xq523m/notebooks/clustering_jerarquico.ipynb" TargetMode="External"/><Relationship Id="rId2" Type="http://schemas.openxmlformats.org/officeDocument/2006/relationships/hyperlink" Target="https://github.com/DidierParody/didier-hierarchical-clustering-101/blob/claude/nice-faraday-xq523m/docs/diagramas.md#7-flujo-de-la-pr&#225;ctica"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DidierParody/didier-hierarchical-clustering-101/blob/claude/nice-faraday-xq523m/docs/pseudocodigo.md" TargetMode="External"/><Relationship Id="rId2" Type="http://schemas.openxmlformats.org/officeDocument/2006/relationships/hyperlink" Target="https://github.com/DidierParody/didier-hierarchical-clustering-101/blob/claude/nice-faraday-xq523m/docs/diagramas.md" TargetMode="External"/><Relationship Id="rId3" Type="http://schemas.openxmlformats.org/officeDocument/2006/relationships/hyperlink" Target="https://github.com/DidierParody/didier-hierarchical-clustering-101/blob/claude/nice-faraday-xq523m/notebooks/clustering_jerarquico.ipynb" TargetMode="External"/><Relationship Id="rId4" Type="http://schemas.openxmlformats.org/officeDocument/2006/relationships/hyperlink" Target="https://github.com/DidierParody/didier-hierarchical-clustering-101/tree/claude/nice-faraday-xq523m" TargetMode="External"/><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7"/>
        </a:solidFill>
      </p:bgPr>
    </p:bg>
    <p:spTree>
      <p:nvGrpSpPr>
        <p:cNvPr id="1" name=""/>
        <p:cNvGrpSpPr/>
        <p:nvPr/>
      </p:nvGrpSpPr>
      <p:grpSpPr>
        <a:xfrm>
          <a:off x="0" y="0"/>
          <a:ext cx="0" cy="0"/>
          <a:chOff x="0" y="0"/>
          <a:chExt cx="0" cy="0"/>
        </a:xfrm>
      </p:grpSpPr>
      <p:pic>
        <p:nvPicPr>
          <p:cNvPr id="3" name="Image 0" descr="Dendrograma dibujado a mano con tres ramas de colores y una línea de corte">    </p:cNvPr>
          <p:cNvPicPr>
            <a:picLocks noChangeAspect="1"/>
          </p:cNvPicPr>
          <p:nvPr/>
        </p:nvPicPr>
        <p:blipFill>
          <a:blip r:embed="rId1"/>
          <a:stretch>
            <a:fillRect/>
          </a:stretch>
        </p:blipFill>
        <p:spPr>
          <a:xfrm>
            <a:off x="6807200" y="1397000"/>
            <a:ext cx="4572000" cy="3810000"/>
          </a:xfrm>
          <a:prstGeom prst="rect">
            <a:avLst/>
          </a:prstGeom>
        </p:spPr>
      </p:pic>
      <p:sp>
        <p:nvSpPr>
          <p:cNvPr id="4" name="Text 0"/>
          <p:cNvSpPr txBox="1"/>
          <p:nvPr/>
        </p:nvSpPr>
        <p:spPr>
          <a:xfrm rot="-180000">
            <a:off x="9220200" y="3517900"/>
            <a:ext cx="952500" cy="457200"/>
          </a:xfrm>
          <a:prstGeom prst="rect">
            <a:avLst/>
          </a:prstGeom>
          <a:noFill/>
          <a:ln/>
        </p:spPr>
        <p:txBody>
          <a:bodyPr wrap="square" lIns="0" tIns="0" rIns="0" bIns="0" rtlCol="0" anchor="t"/>
          <a:lstStyle/>
          <a:p>
            <a:pPr algn="l" indent="0" marL="0">
              <a:lnSpc>
                <a:spcPct val="100000"/>
              </a:lnSpc>
              <a:buNone/>
            </a:pPr>
            <a:r>
              <a:rPr lang="en-US" sz="1500" dirty="0">
                <a:solidFill>
                  <a:srgbClr val="E03131"/>
                </a:solidFill>
                <a:latin typeface="Kalam" pitchFamily="34" charset="0"/>
                <a:ea typeface="Kalam" pitchFamily="34" charset="-122"/>
                <a:cs typeface="Kalam" pitchFamily="34" charset="-120"/>
              </a:rPr>
              <a:t>corte</a:t>
            </a:r>
            <a:endParaRPr lang="en-US" sz="1500" dirty="0"/>
          </a:p>
          <a:p>
            <a:pPr algn="l" indent="0" marL="0">
              <a:lnSpc>
                <a:spcPct val="100000"/>
              </a:lnSpc>
              <a:buNone/>
            </a:pPr>
            <a:r>
              <a:rPr lang="en-US" sz="1500" dirty="0">
                <a:solidFill>
                  <a:srgbClr val="E03131"/>
                </a:solidFill>
                <a:latin typeface="Kalam" pitchFamily="34" charset="0"/>
                <a:ea typeface="Kalam" pitchFamily="34" charset="-122"/>
                <a:cs typeface="Kalam" pitchFamily="34" charset="-120"/>
              </a:rPr>
              <a:t>k = 3</a:t>
            </a:r>
            <a:endParaRPr lang="en-US" sz="1500" dirty="0"/>
          </a:p>
        </p:txBody>
      </p:sp>
      <p:sp>
        <p:nvSpPr>
          <p:cNvPr id="5" name="Text 1"/>
          <p:cNvSpPr txBox="1"/>
          <p:nvPr/>
        </p:nvSpPr>
        <p:spPr>
          <a:xfrm>
            <a:off x="812800" y="1562100"/>
            <a:ext cx="5715000" cy="254000"/>
          </a:xfrm>
          <a:prstGeom prst="rect">
            <a:avLst/>
          </a:prstGeom>
          <a:noFill/>
          <a:ln/>
        </p:spPr>
        <p:txBody>
          <a:bodyPr wrap="square" lIns="0" tIns="0" rIns="0" bIns="0" rtlCol="0" anchor="t"/>
          <a:lstStyle/>
          <a:p>
            <a:pPr algn="l" indent="0" marL="0">
              <a:lnSpc>
                <a:spcPct val="100000"/>
              </a:lnSpc>
              <a:buNone/>
            </a:pPr>
            <a:r>
              <a:rPr lang="en-US" sz="1300" b="1" spc="200" kern="0" dirty="0">
                <a:solidFill>
                  <a:srgbClr val="1971C2"/>
                </a:solidFill>
                <a:latin typeface="Nunito" pitchFamily="34" charset="0"/>
                <a:ea typeface="Nunito" pitchFamily="34" charset="-122"/>
                <a:cs typeface="Nunito" pitchFamily="34" charset="-120"/>
              </a:rPr>
              <a:t>APRENDIZAJE NO SUPERVISADO</a:t>
            </a:r>
            <a:endParaRPr lang="en-US" sz="1300" dirty="0"/>
          </a:p>
        </p:txBody>
      </p:sp>
      <p:sp>
        <p:nvSpPr>
          <p:cNvPr id="6" name="Text 2"/>
          <p:cNvSpPr txBox="1"/>
          <p:nvPr/>
        </p:nvSpPr>
        <p:spPr>
          <a:xfrm>
            <a:off x="812800" y="1905000"/>
            <a:ext cx="5715000" cy="2095500"/>
          </a:xfrm>
          <a:prstGeom prst="rect">
            <a:avLst/>
          </a:prstGeom>
          <a:noFill/>
          <a:ln/>
        </p:spPr>
        <p:txBody>
          <a:bodyPr wrap="square" lIns="0" tIns="0" rIns="0" bIns="0" rtlCol="0" anchor="t"/>
          <a:lstStyle/>
          <a:p>
            <a:pPr algn="l" indent="0" marL="0">
              <a:lnSpc>
                <a:spcPct val="90000"/>
              </a:lnSpc>
              <a:buNone/>
            </a:pPr>
            <a:r>
              <a:rPr lang="en-US" sz="7500" b="1" dirty="0">
                <a:solidFill>
                  <a:srgbClr val="1E1E1E"/>
                </a:solidFill>
                <a:latin typeface="Kalam" pitchFamily="34" charset="0"/>
                <a:ea typeface="Kalam" pitchFamily="34" charset="-122"/>
                <a:cs typeface="Kalam" pitchFamily="34" charset="-120"/>
              </a:rPr>
              <a:t>Clustering</a:t>
            </a:r>
            <a:endParaRPr lang="en-US" sz="7500" dirty="0"/>
          </a:p>
          <a:p>
            <a:pPr algn="l" indent="0" marL="0">
              <a:lnSpc>
                <a:spcPct val="90000"/>
              </a:lnSpc>
              <a:buNone/>
            </a:pPr>
            <a:r>
              <a:rPr lang="en-US" sz="7500" b="1" dirty="0">
                <a:solidFill>
                  <a:srgbClr val="1E1E1E"/>
                </a:solidFill>
                <a:latin typeface="Kalam" pitchFamily="34" charset="0"/>
                <a:ea typeface="Kalam" pitchFamily="34" charset="-122"/>
                <a:cs typeface="Kalam" pitchFamily="34" charset="-120"/>
              </a:rPr>
              <a:t>Jerárquico</a:t>
            </a:r>
            <a:endParaRPr lang="en-US" sz="7500" dirty="0"/>
          </a:p>
        </p:txBody>
      </p:sp>
      <p:sp>
        <p:nvSpPr>
          <p:cNvPr id="7" name="Text 3"/>
          <p:cNvSpPr txBox="1"/>
          <p:nvPr/>
        </p:nvSpPr>
        <p:spPr>
          <a:xfrm>
            <a:off x="812800" y="4127500"/>
            <a:ext cx="5461000" cy="762000"/>
          </a:xfrm>
          <a:prstGeom prst="rect">
            <a:avLst/>
          </a:prstGeom>
          <a:noFill/>
          <a:ln/>
        </p:spPr>
        <p:txBody>
          <a:bodyPr wrap="square" lIns="0" tIns="0" rIns="0" bIns="0" rtlCol="0" anchor="t"/>
          <a:lstStyle/>
          <a:p>
            <a:pPr algn="l" indent="0" marL="0">
              <a:lnSpc>
                <a:spcPct val="110000"/>
              </a:lnSpc>
              <a:buNone/>
            </a:pPr>
            <a:r>
              <a:rPr lang="en-US" sz="2000" dirty="0">
                <a:solidFill>
                  <a:srgbClr val="495057"/>
                </a:solidFill>
                <a:latin typeface="Nunito" pitchFamily="34" charset="0"/>
                <a:ea typeface="Nunito" pitchFamily="34" charset="-122"/>
                <a:cs typeface="Nunito" pitchFamily="34" charset="-120"/>
              </a:rPr>
              <a:t>Cómo un algoritmo construye un árbol de grupos, fusión a fusión.</a:t>
            </a:r>
            <a:endParaRPr lang="en-US" sz="2000" dirty="0"/>
          </a:p>
        </p:txBody>
      </p:sp>
      <p:sp>
        <p:nvSpPr>
          <p:cNvPr id="8" name="Text 4"/>
          <p:cNvSpPr txBox="1"/>
          <p:nvPr/>
        </p:nvSpPr>
        <p:spPr>
          <a:xfrm>
            <a:off x="812800" y="5054600"/>
            <a:ext cx="6350000" cy="279400"/>
          </a:xfrm>
          <a:prstGeom prst="rect">
            <a:avLst/>
          </a:prstGeom>
          <a:noFill/>
          <a:ln/>
        </p:spPr>
        <p:txBody>
          <a:bodyPr wrap="square" lIns="0" tIns="0" rIns="0" bIns="0" rtlCol="0" anchor="t"/>
          <a:lstStyle/>
          <a:p>
            <a:pPr algn="l" indent="0" marL="0">
              <a:lnSpc>
                <a:spcPct val="100000"/>
              </a:lnSpc>
              <a:buNone/>
            </a:pPr>
            <a:r>
              <a:rPr lang="en-US" sz="1400" dirty="0">
                <a:solidFill>
                  <a:srgbClr val="868E96"/>
                </a:solidFill>
                <a:latin typeface="Nunito" pitchFamily="34" charset="0"/>
                <a:ea typeface="Nunito" pitchFamily="34" charset="-122"/>
                <a:cs typeface="Nunito" pitchFamily="34" charset="-120"/>
              </a:rPr>
              <a:t>[Nombre del presentador] · [Curso o evento] · [Fecha]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7"/>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Lo que vamos a ver</a:t>
            </a:r>
            <a:endParaRPr lang="en-US" sz="3800" dirty="0"/>
          </a:p>
        </p:txBody>
      </p:sp>
      <p:sp>
        <p:nvSpPr>
          <p:cNvPr id="4" name="Text 1"/>
          <p:cNvSpPr/>
          <p:nvPr/>
        </p:nvSpPr>
        <p:spPr>
          <a:xfrm rot="-60000">
            <a:off x="812800" y="1968500"/>
            <a:ext cx="2470150" cy="2540000"/>
          </a:xfrm>
          <a:prstGeom prst="roundRect">
            <a:avLst>
              <a:gd name="adj" fmla="val 4113"/>
            </a:avLst>
          </a:prstGeom>
          <a:solidFill>
            <a:srgbClr val="D0EBFF"/>
          </a:solidFill>
          <a:ln w="28575">
            <a:solidFill>
              <a:srgbClr val="1E1E1E"/>
            </a:solidFill>
          </a:ln>
        </p:spPr>
        <p:txBody>
          <a:bodyPr wrap="square" lIns="254000" tIns="254000" rIns="254000" bIns="254000" rtlCol="0" anchor="t"/>
          <a:lstStyle/>
          <a:p>
            <a:pPr algn="l" indent="0" marL="0">
              <a:lnSpc>
                <a:spcPct val="105000"/>
              </a:lnSpc>
              <a:spcAft>
                <a:spcPts val="600"/>
              </a:spcAft>
              <a:buNone/>
            </a:pPr>
            <a:r>
              <a:rPr lang="en-US" sz="3200" b="1" dirty="0">
                <a:solidFill>
                  <a:srgbClr val="1971C2"/>
                </a:solidFill>
                <a:latin typeface="Kalam" pitchFamily="34" charset="0"/>
                <a:ea typeface="Kalam" pitchFamily="34" charset="-122"/>
                <a:cs typeface="Kalam" pitchFamily="34" charset="-120"/>
              </a:rPr>
              <a:t>1</a:t>
            </a:r>
            <a:endParaRPr lang="en-US" sz="3200" dirty="0"/>
          </a:p>
          <a:p>
            <a:pPr algn="l" indent="0" marL="0">
              <a:lnSpc>
                <a:spcPct val="105000"/>
              </a:lnSpc>
              <a:spcAft>
                <a:spcPts val="1000"/>
              </a:spcAft>
              <a:buNone/>
            </a:pPr>
            <a:r>
              <a:rPr lang="en-US" sz="2200" b="1" dirty="0">
                <a:solidFill>
                  <a:srgbClr val="1E1E1E"/>
                </a:solidFill>
                <a:latin typeface="Kalam" pitchFamily="34" charset="0"/>
                <a:ea typeface="Kalam" pitchFamily="34" charset="-122"/>
                <a:cs typeface="Kalam" pitchFamily="34" charset="-120"/>
              </a:rPr>
              <a:t>¿Qué es?</a:t>
            </a:r>
            <a:endParaRPr lang="en-US" sz="3200" dirty="0"/>
          </a:p>
          <a:p>
            <a:pPr algn="l" indent="0" marL="0">
              <a:lnSpc>
                <a:spcPct val="105000"/>
              </a:lnSpc>
              <a:buNone/>
            </a:pPr>
            <a:r>
              <a:rPr lang="en-US" sz="1300" dirty="0">
                <a:solidFill>
                  <a:srgbClr val="495057"/>
                </a:solidFill>
                <a:latin typeface="Nunito" pitchFamily="34" charset="0"/>
                <a:ea typeface="Nunito" pitchFamily="34" charset="-122"/>
                <a:cs typeface="Nunito" pitchFamily="34" charset="-120"/>
              </a:rPr>
              <a:t>La idea de una jerarquía de grupos.</a:t>
            </a:r>
            <a:endParaRPr lang="en-US" sz="3200" dirty="0"/>
          </a:p>
        </p:txBody>
      </p:sp>
      <p:sp>
        <p:nvSpPr>
          <p:cNvPr id="5" name="Text 2"/>
          <p:cNvSpPr/>
          <p:nvPr/>
        </p:nvSpPr>
        <p:spPr>
          <a:xfrm rot="48000">
            <a:off x="3511550" y="1968500"/>
            <a:ext cx="2470150" cy="2540000"/>
          </a:xfrm>
          <a:prstGeom prst="roundRect">
            <a:avLst>
              <a:gd name="adj" fmla="val 4113"/>
            </a:avLst>
          </a:prstGeom>
          <a:solidFill>
            <a:srgbClr val="FFD8A8"/>
          </a:solidFill>
          <a:ln w="28575">
            <a:solidFill>
              <a:srgbClr val="1E1E1E"/>
            </a:solidFill>
          </a:ln>
        </p:spPr>
        <p:txBody>
          <a:bodyPr wrap="square" lIns="254000" tIns="254000" rIns="254000" bIns="254000" rtlCol="0" anchor="t"/>
          <a:lstStyle/>
          <a:p>
            <a:pPr algn="l" indent="0" marL="0">
              <a:lnSpc>
                <a:spcPct val="105000"/>
              </a:lnSpc>
              <a:spcAft>
                <a:spcPts val="600"/>
              </a:spcAft>
              <a:buNone/>
            </a:pPr>
            <a:r>
              <a:rPr lang="en-US" sz="3200" b="1" dirty="0">
                <a:solidFill>
                  <a:srgbClr val="E8590C"/>
                </a:solidFill>
                <a:latin typeface="Kalam" pitchFamily="34" charset="0"/>
                <a:ea typeface="Kalam" pitchFamily="34" charset="-122"/>
                <a:cs typeface="Kalam" pitchFamily="34" charset="-120"/>
              </a:rPr>
              <a:t>2</a:t>
            </a:r>
            <a:endParaRPr lang="en-US" sz="3200" dirty="0"/>
          </a:p>
          <a:p>
            <a:pPr algn="l" indent="0" marL="0">
              <a:lnSpc>
                <a:spcPct val="105000"/>
              </a:lnSpc>
              <a:spcAft>
                <a:spcPts val="1000"/>
              </a:spcAft>
              <a:buNone/>
            </a:pPr>
            <a:r>
              <a:rPr lang="en-US" sz="2200" b="1" dirty="0">
                <a:solidFill>
                  <a:srgbClr val="1E1E1E"/>
                </a:solidFill>
                <a:latin typeface="Kalam" pitchFamily="34" charset="0"/>
                <a:ea typeface="Kalam" pitchFamily="34" charset="-122"/>
                <a:cs typeface="Kalam" pitchFamily="34" charset="-120"/>
              </a:rPr>
              <a:t>Cómo funciona</a:t>
            </a:r>
            <a:endParaRPr lang="en-US" sz="3200" dirty="0"/>
          </a:p>
          <a:p>
            <a:pPr algn="l" indent="0" marL="0">
              <a:lnSpc>
                <a:spcPct val="105000"/>
              </a:lnSpc>
              <a:buNone/>
            </a:pPr>
            <a:r>
              <a:rPr lang="en-US" sz="1300" dirty="0">
                <a:solidFill>
                  <a:srgbClr val="495057"/>
                </a:solidFill>
                <a:latin typeface="Nunito" pitchFamily="34" charset="0"/>
                <a:ea typeface="Nunito" pitchFamily="34" charset="-122"/>
                <a:cs typeface="Nunito" pitchFamily="34" charset="-120"/>
              </a:rPr>
              <a:t>El algoritmo, los enlaces y el dendrograma.</a:t>
            </a:r>
            <a:endParaRPr lang="en-US" sz="3200" dirty="0"/>
          </a:p>
        </p:txBody>
      </p:sp>
      <p:sp>
        <p:nvSpPr>
          <p:cNvPr id="6" name="Text 3"/>
          <p:cNvSpPr/>
          <p:nvPr/>
        </p:nvSpPr>
        <p:spPr>
          <a:xfrm rot="-36000">
            <a:off x="6210300" y="1968500"/>
            <a:ext cx="2470150" cy="2540000"/>
          </a:xfrm>
          <a:prstGeom prst="roundRect">
            <a:avLst>
              <a:gd name="adj" fmla="val 4113"/>
            </a:avLst>
          </a:prstGeom>
          <a:solidFill>
            <a:srgbClr val="B2F2BB"/>
          </a:solidFill>
          <a:ln w="28575">
            <a:solidFill>
              <a:srgbClr val="1E1E1E"/>
            </a:solidFill>
          </a:ln>
        </p:spPr>
        <p:txBody>
          <a:bodyPr wrap="square" lIns="254000" tIns="254000" rIns="254000" bIns="254000" rtlCol="0" anchor="t"/>
          <a:lstStyle/>
          <a:p>
            <a:pPr algn="l" indent="0" marL="0">
              <a:lnSpc>
                <a:spcPct val="105000"/>
              </a:lnSpc>
              <a:spcAft>
                <a:spcPts val="600"/>
              </a:spcAft>
              <a:buNone/>
            </a:pPr>
            <a:r>
              <a:rPr lang="en-US" sz="3200" b="1" dirty="0">
                <a:solidFill>
                  <a:srgbClr val="2F9E44"/>
                </a:solidFill>
                <a:latin typeface="Kalam" pitchFamily="34" charset="0"/>
                <a:ea typeface="Kalam" pitchFamily="34" charset="-122"/>
                <a:cs typeface="Kalam" pitchFamily="34" charset="-120"/>
              </a:rPr>
              <a:t>3</a:t>
            </a:r>
            <a:endParaRPr lang="en-US" sz="3200" dirty="0"/>
          </a:p>
          <a:p>
            <a:pPr algn="l" indent="0" marL="0">
              <a:lnSpc>
                <a:spcPct val="105000"/>
              </a:lnSpc>
              <a:spcAft>
                <a:spcPts val="1000"/>
              </a:spcAft>
              <a:buNone/>
            </a:pPr>
            <a:r>
              <a:rPr lang="en-US" sz="2200" b="1" dirty="0">
                <a:solidFill>
                  <a:srgbClr val="1E1E1E"/>
                </a:solidFill>
                <a:latin typeface="Kalam" pitchFamily="34" charset="0"/>
                <a:ea typeface="Kalam" pitchFamily="34" charset="-122"/>
                <a:cs typeface="Kalam" pitchFamily="34" charset="-120"/>
              </a:rPr>
              <a:t>Quién lo creó</a:t>
            </a:r>
            <a:endParaRPr lang="en-US" sz="3200" dirty="0"/>
          </a:p>
          <a:p>
            <a:pPr algn="l" indent="0" marL="0">
              <a:lnSpc>
                <a:spcPct val="105000"/>
              </a:lnSpc>
              <a:buNone/>
            </a:pPr>
            <a:r>
              <a:rPr lang="en-US" sz="1300" dirty="0">
                <a:solidFill>
                  <a:srgbClr val="495057"/>
                </a:solidFill>
                <a:latin typeface="Nunito" pitchFamily="34" charset="0"/>
                <a:ea typeface="Nunito" pitchFamily="34" charset="-122"/>
                <a:cs typeface="Nunito" pitchFamily="34" charset="-120"/>
              </a:rPr>
              <a:t>Autores clave, de 1948 a hoy.</a:t>
            </a:r>
            <a:endParaRPr lang="en-US" sz="3200" dirty="0"/>
          </a:p>
        </p:txBody>
      </p:sp>
      <p:sp>
        <p:nvSpPr>
          <p:cNvPr id="7" name="Text 4"/>
          <p:cNvSpPr/>
          <p:nvPr/>
        </p:nvSpPr>
        <p:spPr>
          <a:xfrm rot="60000">
            <a:off x="8909050" y="1968500"/>
            <a:ext cx="2470150" cy="2540000"/>
          </a:xfrm>
          <a:prstGeom prst="roundRect">
            <a:avLst>
              <a:gd name="adj" fmla="val 4113"/>
            </a:avLst>
          </a:prstGeom>
          <a:solidFill>
            <a:srgbClr val="D0BFFF"/>
          </a:solidFill>
          <a:ln w="28575">
            <a:solidFill>
              <a:srgbClr val="1E1E1E"/>
            </a:solidFill>
          </a:ln>
        </p:spPr>
        <p:txBody>
          <a:bodyPr wrap="square" lIns="254000" tIns="254000" rIns="254000" bIns="254000" rtlCol="0" anchor="t"/>
          <a:lstStyle/>
          <a:p>
            <a:pPr algn="l" indent="0" marL="0">
              <a:lnSpc>
                <a:spcPct val="105000"/>
              </a:lnSpc>
              <a:spcAft>
                <a:spcPts val="600"/>
              </a:spcAft>
              <a:buNone/>
            </a:pPr>
            <a:r>
              <a:rPr lang="en-US" sz="3200" b="1" dirty="0">
                <a:solidFill>
                  <a:srgbClr val="6741D9"/>
                </a:solidFill>
                <a:latin typeface="Kalam" pitchFamily="34" charset="0"/>
                <a:ea typeface="Kalam" pitchFamily="34" charset="-122"/>
                <a:cs typeface="Kalam" pitchFamily="34" charset="-120"/>
              </a:rPr>
              <a:t>4</a:t>
            </a:r>
            <a:endParaRPr lang="en-US" sz="3200" dirty="0"/>
          </a:p>
          <a:p>
            <a:pPr algn="l" indent="0" marL="0">
              <a:lnSpc>
                <a:spcPct val="105000"/>
              </a:lnSpc>
              <a:spcAft>
                <a:spcPts val="1000"/>
              </a:spcAft>
              <a:buNone/>
            </a:pPr>
            <a:r>
              <a:rPr lang="en-US" sz="2200" b="1" dirty="0">
                <a:solidFill>
                  <a:srgbClr val="1E1E1E"/>
                </a:solidFill>
                <a:latin typeface="Kalam" pitchFamily="34" charset="0"/>
                <a:ea typeface="Kalam" pitchFamily="34" charset="-122"/>
                <a:cs typeface="Kalam" pitchFamily="34" charset="-120"/>
              </a:rPr>
              <a:t>En la práctica</a:t>
            </a:r>
            <a:endParaRPr lang="en-US" sz="3200" dirty="0"/>
          </a:p>
          <a:p>
            <a:pPr algn="l" indent="0" marL="0">
              <a:lnSpc>
                <a:spcPct val="105000"/>
              </a:lnSpc>
              <a:buNone/>
            </a:pPr>
            <a:r>
              <a:rPr lang="en-US" sz="1300" dirty="0">
                <a:solidFill>
                  <a:srgbClr val="495057"/>
                </a:solidFill>
                <a:latin typeface="Nunito" pitchFamily="34" charset="0"/>
                <a:ea typeface="Nunito" pitchFamily="34" charset="-122"/>
                <a:cs typeface="Nunito" pitchFamily="34" charset="-120"/>
              </a:rPr>
              <a:t>scikit-learn, resultados y lecciones.</a:t>
            </a:r>
            <a:endParaRPr lang="en-US" sz="3200" dirty="0"/>
          </a:p>
        </p:txBody>
      </p:sp>
      <p:sp>
        <p:nvSpPr>
          <p:cNvPr id="8" name="Text 5"/>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2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7"/>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1971C2"/>
                </a:solidFill>
                <a:latin typeface="Nunito" pitchFamily="34" charset="0"/>
                <a:ea typeface="Nunito" pitchFamily="34" charset="-122"/>
                <a:cs typeface="Nunito" pitchFamily="34" charset="-120"/>
              </a:rPr>
              <a:t>¿QUÉ ES?</a:t>
            </a:r>
            <a:endParaRPr lang="en-US" sz="1200" dirty="0"/>
          </a:p>
        </p:txBody>
      </p:sp>
      <p:sp>
        <p:nvSpPr>
          <p:cNvPr id="4" name="Text 1"/>
          <p:cNvSpPr txBox="1"/>
          <p:nvPr/>
        </p:nvSpPr>
        <p:spPr>
          <a:xfrm>
            <a:off x="812800" y="10795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Una jerarquía, no una sola partición</a:t>
            </a:r>
            <a:endParaRPr lang="en-US" sz="3800" dirty="0"/>
          </a:p>
        </p:txBody>
      </p:sp>
      <p:sp>
        <p:nvSpPr>
          <p:cNvPr id="5" name="Shape 2"/>
          <p:cNvSpPr/>
          <p:nvPr/>
        </p:nvSpPr>
        <p:spPr>
          <a:xfrm rot="-36000">
            <a:off x="812800" y="2095500"/>
            <a:ext cx="5130800" cy="3556000"/>
          </a:xfrm>
          <a:prstGeom prst="roundRect">
            <a:avLst>
              <a:gd name="adj" fmla="val 2857"/>
            </a:avLst>
          </a:prstGeom>
          <a:solidFill>
            <a:srgbClr val="FFFFFF"/>
          </a:solidFill>
          <a:ln w="28575">
            <a:solidFill>
              <a:srgbClr val="1E1E1E"/>
            </a:solidFill>
            <a:prstDash val="solid"/>
          </a:ln>
        </p:spPr>
      </p:sp>
      <p:sp>
        <p:nvSpPr>
          <p:cNvPr id="6" name="Text 3"/>
          <p:cNvSpPr txBox="1"/>
          <p:nvPr/>
        </p:nvSpPr>
        <p:spPr>
          <a:xfrm>
            <a:off x="1066800" y="2349500"/>
            <a:ext cx="4622800" cy="406400"/>
          </a:xfrm>
          <a:prstGeom prst="rect">
            <a:avLst/>
          </a:prstGeom>
          <a:noFill/>
          <a:ln/>
        </p:spPr>
        <p:txBody>
          <a:bodyPr wrap="square" lIns="0" tIns="0" rIns="0" bIns="0" rtlCol="0" anchor="t"/>
          <a:lstStyle/>
          <a:p>
            <a:pPr algn="l" indent="0" marL="0">
              <a:lnSpc>
                <a:spcPct val="100000"/>
              </a:lnSpc>
              <a:buNone/>
            </a:pPr>
            <a:r>
              <a:rPr lang="en-US" sz="2200" b="1" dirty="0">
                <a:solidFill>
                  <a:srgbClr val="1E1E1E"/>
                </a:solidFill>
                <a:latin typeface="Kalam" pitchFamily="34" charset="0"/>
                <a:ea typeface="Kalam" pitchFamily="34" charset="-122"/>
                <a:cs typeface="Kalam" pitchFamily="34" charset="-120"/>
              </a:rPr>
              <a:t>k-means y similares</a:t>
            </a:r>
            <a:endParaRPr lang="en-US" sz="2200" dirty="0"/>
          </a:p>
        </p:txBody>
      </p:sp>
      <p:pic>
        <p:nvPicPr>
          <p:cNvPr id="7" name="Image 0" descr="k-means y similares">    </p:cNvPr>
          <p:cNvPicPr>
            <a:picLocks noChangeAspect="1"/>
          </p:cNvPicPr>
          <p:nvPr/>
        </p:nvPicPr>
        <p:blipFill>
          <a:blip r:embed="rId1"/>
          <a:stretch>
            <a:fillRect/>
          </a:stretch>
        </p:blipFill>
        <p:spPr>
          <a:xfrm>
            <a:off x="1066800" y="2895600"/>
            <a:ext cx="4064000" cy="1079500"/>
          </a:xfrm>
          <a:prstGeom prst="rect">
            <a:avLst/>
          </a:prstGeom>
        </p:spPr>
      </p:pic>
      <p:sp>
        <p:nvSpPr>
          <p:cNvPr id="8" name="Text 4"/>
          <p:cNvSpPr txBox="1"/>
          <p:nvPr/>
        </p:nvSpPr>
        <p:spPr>
          <a:xfrm>
            <a:off x="1066800" y="4191000"/>
            <a:ext cx="4622800" cy="1206500"/>
          </a:xfrm>
          <a:prstGeom prst="rect">
            <a:avLst/>
          </a:prstGeom>
          <a:noFill/>
          <a:ln/>
        </p:spPr>
        <p:txBody>
          <a:bodyPr wrap="square" lIns="0" tIns="0" rIns="0" bIns="0" rtlCol="0" anchor="t"/>
          <a:lstStyle/>
          <a:p>
            <a:pPr algn="l" indent="0" marL="0">
              <a:lnSpc>
                <a:spcPct val="115000"/>
              </a:lnSpc>
              <a:buNone/>
            </a:pPr>
            <a:r>
              <a:rPr lang="en-US" sz="1500" dirty="0">
                <a:solidFill>
                  <a:srgbClr val="495057"/>
                </a:solidFill>
                <a:latin typeface="Nunito" pitchFamily="34" charset="0"/>
                <a:ea typeface="Nunito" pitchFamily="34" charset="-122"/>
                <a:cs typeface="Nunito" pitchFamily="34" charset="-120"/>
              </a:rPr>
              <a:t>Devuelve </a:t>
            </a:r>
            <a:pPr algn="l" indent="0" marL="0">
              <a:lnSpc>
                <a:spcPct val="115000"/>
              </a:lnSpc>
              <a:buNone/>
            </a:pPr>
            <a:r>
              <a:rPr lang="en-US" sz="1500" b="1" dirty="0">
                <a:solidFill>
                  <a:srgbClr val="1E1E1E"/>
                </a:solidFill>
                <a:latin typeface="Nunito" pitchFamily="34" charset="0"/>
                <a:ea typeface="Nunito" pitchFamily="34" charset="-122"/>
                <a:cs typeface="Nunito" pitchFamily="34" charset="-120"/>
              </a:rPr>
              <a:t>una</a:t>
            </a:r>
            <a:pPr algn="l" indent="0" marL="0">
              <a:lnSpc>
                <a:spcPct val="115000"/>
              </a:lnSpc>
              <a:buNone/>
            </a:pPr>
            <a:r>
              <a:rPr lang="en-US" sz="1500" dirty="0">
                <a:solidFill>
                  <a:srgbClr val="495057"/>
                </a:solidFill>
                <a:latin typeface="Nunito" pitchFamily="34" charset="0"/>
                <a:ea typeface="Nunito" pitchFamily="34" charset="-122"/>
                <a:cs typeface="Nunito" pitchFamily="34" charset="-120"/>
              </a:rPr>
              <a:t> partición. Hay que fijar </a:t>
            </a:r>
            <a:pPr algn="l" indent="0" marL="0">
              <a:lnSpc>
                <a:spcPct val="115000"/>
              </a:lnSpc>
              <a:buNone/>
            </a:pPr>
            <a:r>
              <a:rPr lang="en-US" sz="1500" b="1" dirty="0">
                <a:solidFill>
                  <a:srgbClr val="1E1E1E"/>
                </a:solidFill>
                <a:latin typeface="Nunito" pitchFamily="34" charset="0"/>
                <a:ea typeface="Nunito" pitchFamily="34" charset="-122"/>
                <a:cs typeface="Nunito" pitchFamily="34" charset="-120"/>
              </a:rPr>
              <a:t>k</a:t>
            </a:r>
            <a:pPr algn="l" indent="0" marL="0">
              <a:lnSpc>
                <a:spcPct val="115000"/>
              </a:lnSpc>
              <a:buNone/>
            </a:pPr>
            <a:r>
              <a:rPr lang="en-US" sz="1500" dirty="0">
                <a:solidFill>
                  <a:srgbClr val="495057"/>
                </a:solidFill>
                <a:latin typeface="Nunito" pitchFamily="34" charset="0"/>
                <a:ea typeface="Nunito" pitchFamily="34" charset="-122"/>
                <a:cs typeface="Nunito" pitchFamily="34" charset="-120"/>
              </a:rPr>
              <a:t> antes de empezar.</a:t>
            </a:r>
            <a:endParaRPr lang="en-US" sz="1500" dirty="0"/>
          </a:p>
        </p:txBody>
      </p:sp>
      <p:sp>
        <p:nvSpPr>
          <p:cNvPr id="9" name="Shape 5"/>
          <p:cNvSpPr/>
          <p:nvPr/>
        </p:nvSpPr>
        <p:spPr>
          <a:xfrm rot="36000">
            <a:off x="6248400" y="2095500"/>
            <a:ext cx="5130800" cy="3556000"/>
          </a:xfrm>
          <a:prstGeom prst="roundRect">
            <a:avLst>
              <a:gd name="adj" fmla="val 2857"/>
            </a:avLst>
          </a:prstGeom>
          <a:solidFill>
            <a:srgbClr val="D0EBFF"/>
          </a:solidFill>
          <a:ln w="28575">
            <a:solidFill>
              <a:srgbClr val="1E1E1E"/>
            </a:solidFill>
            <a:prstDash val="solid"/>
          </a:ln>
        </p:spPr>
      </p:sp>
      <p:sp>
        <p:nvSpPr>
          <p:cNvPr id="10" name="Text 6"/>
          <p:cNvSpPr txBox="1"/>
          <p:nvPr/>
        </p:nvSpPr>
        <p:spPr>
          <a:xfrm>
            <a:off x="6502400" y="2349500"/>
            <a:ext cx="4622800" cy="406400"/>
          </a:xfrm>
          <a:prstGeom prst="rect">
            <a:avLst/>
          </a:prstGeom>
          <a:noFill/>
          <a:ln/>
        </p:spPr>
        <p:txBody>
          <a:bodyPr wrap="square" lIns="0" tIns="0" rIns="0" bIns="0" rtlCol="0" anchor="t"/>
          <a:lstStyle/>
          <a:p>
            <a:pPr algn="l" indent="0" marL="0">
              <a:lnSpc>
                <a:spcPct val="100000"/>
              </a:lnSpc>
              <a:buNone/>
            </a:pPr>
            <a:r>
              <a:rPr lang="en-US" sz="2200" b="1" dirty="0">
                <a:solidFill>
                  <a:srgbClr val="1E1E1E"/>
                </a:solidFill>
                <a:latin typeface="Kalam" pitchFamily="34" charset="0"/>
                <a:ea typeface="Kalam" pitchFamily="34" charset="-122"/>
                <a:cs typeface="Kalam" pitchFamily="34" charset="-120"/>
              </a:rPr>
              <a:t>Clustering jerárquico</a:t>
            </a:r>
            <a:endParaRPr lang="en-US" sz="2200" dirty="0"/>
          </a:p>
        </p:txBody>
      </p:sp>
      <p:pic>
        <p:nvPicPr>
          <p:cNvPr id="11" name="Image 1" descr="Clustering jerárquico">    </p:cNvPr>
          <p:cNvPicPr>
            <a:picLocks noChangeAspect="1"/>
          </p:cNvPicPr>
          <p:nvPr/>
        </p:nvPicPr>
        <p:blipFill>
          <a:blip r:embed="rId2"/>
          <a:stretch>
            <a:fillRect/>
          </a:stretch>
        </p:blipFill>
        <p:spPr>
          <a:xfrm>
            <a:off x="6502400" y="2895600"/>
            <a:ext cx="4064000" cy="1079500"/>
          </a:xfrm>
          <a:prstGeom prst="rect">
            <a:avLst/>
          </a:prstGeom>
        </p:spPr>
      </p:pic>
      <p:sp>
        <p:nvSpPr>
          <p:cNvPr id="12" name="Text 7"/>
          <p:cNvSpPr txBox="1"/>
          <p:nvPr/>
        </p:nvSpPr>
        <p:spPr>
          <a:xfrm>
            <a:off x="6502400" y="4191000"/>
            <a:ext cx="4622800" cy="1206500"/>
          </a:xfrm>
          <a:prstGeom prst="rect">
            <a:avLst/>
          </a:prstGeom>
          <a:noFill/>
          <a:ln/>
        </p:spPr>
        <p:txBody>
          <a:bodyPr wrap="square" lIns="0" tIns="0" rIns="0" bIns="0" rtlCol="0" anchor="t"/>
          <a:lstStyle/>
          <a:p>
            <a:pPr algn="l" indent="0" marL="0">
              <a:lnSpc>
                <a:spcPct val="115000"/>
              </a:lnSpc>
              <a:buNone/>
            </a:pPr>
            <a:r>
              <a:rPr lang="en-US" sz="1500" dirty="0">
                <a:solidFill>
                  <a:srgbClr val="1E1E1E"/>
                </a:solidFill>
                <a:latin typeface="Nunito" pitchFamily="34" charset="0"/>
                <a:ea typeface="Nunito" pitchFamily="34" charset="-122"/>
                <a:cs typeface="Nunito" pitchFamily="34" charset="-120"/>
              </a:rPr>
              <a:t>Devuelve </a:t>
            </a:r>
            <a:pPr algn="l" indent="0" marL="0">
              <a:lnSpc>
                <a:spcPct val="115000"/>
              </a:lnSpc>
              <a:buNone/>
            </a:pPr>
            <a:r>
              <a:rPr lang="en-US" sz="1500" b="1" dirty="0">
                <a:solidFill>
                  <a:srgbClr val="1E1E1E"/>
                </a:solidFill>
                <a:latin typeface="Nunito" pitchFamily="34" charset="0"/>
                <a:ea typeface="Nunito" pitchFamily="34" charset="-122"/>
                <a:cs typeface="Nunito" pitchFamily="34" charset="-120"/>
              </a:rPr>
              <a:t>todas</a:t>
            </a:r>
            <a:pPr algn="l" indent="0" marL="0">
              <a:lnSpc>
                <a:spcPct val="115000"/>
              </a:lnSpc>
              <a:buNone/>
            </a:pPr>
            <a:r>
              <a:rPr lang="en-US" sz="1500" dirty="0">
                <a:solidFill>
                  <a:srgbClr val="1E1E1E"/>
                </a:solidFill>
                <a:latin typeface="Nunito" pitchFamily="34" charset="0"/>
                <a:ea typeface="Nunito" pitchFamily="34" charset="-122"/>
                <a:cs typeface="Nunito" pitchFamily="34" charset="-120"/>
              </a:rPr>
              <a:t> las particiones anidadas. Eliges </a:t>
            </a:r>
            <a:pPr algn="l" indent="0" marL="0">
              <a:lnSpc>
                <a:spcPct val="115000"/>
              </a:lnSpc>
              <a:buNone/>
            </a:pPr>
            <a:r>
              <a:rPr lang="en-US" sz="1500" b="1" dirty="0">
                <a:solidFill>
                  <a:srgbClr val="1E1E1E"/>
                </a:solidFill>
                <a:latin typeface="Nunito" pitchFamily="34" charset="0"/>
                <a:ea typeface="Nunito" pitchFamily="34" charset="-122"/>
                <a:cs typeface="Nunito" pitchFamily="34" charset="-120"/>
              </a:rPr>
              <a:t>k</a:t>
            </a:r>
            <a:pPr algn="l" indent="0" marL="0">
              <a:lnSpc>
                <a:spcPct val="115000"/>
              </a:lnSpc>
              <a:buNone/>
            </a:pPr>
            <a:r>
              <a:rPr lang="en-US" sz="1500" dirty="0">
                <a:solidFill>
                  <a:srgbClr val="1E1E1E"/>
                </a:solidFill>
                <a:latin typeface="Nunito" pitchFamily="34" charset="0"/>
                <a:ea typeface="Nunito" pitchFamily="34" charset="-122"/>
                <a:cs typeface="Nunito" pitchFamily="34" charset="-120"/>
              </a:rPr>
              <a:t> después, cortando el árbol.</a:t>
            </a:r>
            <a:endParaRPr lang="en-US" sz="1500" dirty="0"/>
          </a:p>
        </p:txBody>
      </p:sp>
      <p:sp>
        <p:nvSpPr>
          <p:cNvPr id="13" name="Text 8"/>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3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Dos direcciones posibles</a:t>
            </a:r>
            <a:endParaRPr lang="en-US" sz="3800" dirty="0"/>
          </a:p>
        </p:txBody>
      </p:sp>
      <p:sp>
        <p:nvSpPr>
          <p:cNvPr id="4" name="Text 1"/>
          <p:cNvSpPr txBox="1"/>
          <p:nvPr/>
        </p:nvSpPr>
        <p:spPr>
          <a:xfrm>
            <a:off x="812800" y="1663700"/>
            <a:ext cx="4978400" cy="406400"/>
          </a:xfrm>
          <a:prstGeom prst="rect">
            <a:avLst/>
          </a:prstGeom>
          <a:noFill/>
          <a:ln/>
        </p:spPr>
        <p:txBody>
          <a:bodyPr wrap="square" lIns="0" tIns="0" rIns="0" bIns="0" rtlCol="0" anchor="t"/>
          <a:lstStyle/>
          <a:p>
            <a:pPr algn="ctr" indent="0" marL="0">
              <a:lnSpc>
                <a:spcPct val="100000"/>
              </a:lnSpc>
              <a:buNone/>
            </a:pPr>
            <a:r>
              <a:rPr lang="en-US" sz="2200" b="1" dirty="0">
                <a:solidFill>
                  <a:srgbClr val="1971C2"/>
                </a:solidFill>
                <a:latin typeface="Kalam" pitchFamily="34" charset="0"/>
                <a:ea typeface="Kalam" pitchFamily="34" charset="-122"/>
                <a:cs typeface="Kalam" pitchFamily="34" charset="-120"/>
              </a:rPr>
              <a:t>Aglomerativo · AGNES</a:t>
            </a:r>
            <a:endParaRPr lang="en-US" sz="2200" dirty="0"/>
          </a:p>
        </p:txBody>
      </p:sp>
      <p:sp>
        <p:nvSpPr>
          <p:cNvPr id="5" name="Text 2"/>
          <p:cNvSpPr txBox="1"/>
          <p:nvPr/>
        </p:nvSpPr>
        <p:spPr>
          <a:xfrm>
            <a:off x="812800" y="2095500"/>
            <a:ext cx="4978400" cy="254000"/>
          </a:xfrm>
          <a:prstGeom prst="rect">
            <a:avLst/>
          </a:prstGeom>
          <a:noFill/>
          <a:ln/>
        </p:spPr>
        <p:txBody>
          <a:bodyPr wrap="square" lIns="0" tIns="0" rIns="0" bIns="0" rtlCol="0" anchor="t"/>
          <a:lstStyle/>
          <a:p>
            <a:pPr algn="ctr" indent="0" marL="0">
              <a:lnSpc>
                <a:spcPct val="100000"/>
              </a:lnSpc>
              <a:buNone/>
            </a:pPr>
            <a:r>
              <a:rPr lang="en-US" sz="1300" dirty="0">
                <a:solidFill>
                  <a:srgbClr val="495057"/>
                </a:solidFill>
                <a:latin typeface="Nunito" pitchFamily="34" charset="0"/>
                <a:ea typeface="Nunito" pitchFamily="34" charset="-122"/>
                <a:cs typeface="Nunito" pitchFamily="34" charset="-120"/>
              </a:rPr>
              <a:t>de abajo hacia arriba · el más usado</a:t>
            </a:r>
            <a:endParaRPr lang="en-US" sz="1300" dirty="0"/>
          </a:p>
        </p:txBody>
      </p:sp>
      <p:sp>
        <p:nvSpPr>
          <p:cNvPr id="6" name="Text 3"/>
          <p:cNvSpPr/>
          <p:nvPr/>
        </p:nvSpPr>
        <p:spPr>
          <a:xfrm>
            <a:off x="1524000" y="2514600"/>
            <a:ext cx="3556000" cy="533400"/>
          </a:xfrm>
          <a:prstGeom prst="roundRect">
            <a:avLst>
              <a:gd name="adj" fmla="val 16667"/>
            </a:avLst>
          </a:prstGeom>
          <a:solidFill>
            <a:srgbClr val="D0EBFF"/>
          </a:solidFill>
          <a:ln w="28575">
            <a:solidFill>
              <a:srgbClr val="1E1E1E"/>
            </a:solidFill>
          </a:ln>
        </p:spPr>
        <p:txBody>
          <a:bodyPr wrap="square" lIns="76200" tIns="76200" rIns="76200" bIns="76200" rtlCol="0" anchor="ctr"/>
          <a:lstStyle/>
          <a:p>
            <a:pPr algn="ctr" indent="0" marL="0">
              <a:lnSpc>
                <a:spcPct val="105000"/>
              </a:lnSpc>
              <a:buNone/>
            </a:pPr>
            <a:r>
              <a:rPr lang="en-US" sz="1500" dirty="0">
                <a:solidFill>
                  <a:srgbClr val="1E1E1E"/>
                </a:solidFill>
                <a:latin typeface="Nunito" pitchFamily="34" charset="0"/>
                <a:ea typeface="Nunito" pitchFamily="34" charset="-122"/>
                <a:cs typeface="Nunito" pitchFamily="34" charset="-120"/>
              </a:rPr>
              <a:t>n clusters de 1 punto</a:t>
            </a:r>
            <a:endParaRPr lang="en-US" sz="1500" dirty="0"/>
          </a:p>
        </p:txBody>
      </p:sp>
      <p:sp>
        <p:nvSpPr>
          <p:cNvPr id="7" name="Shape 4"/>
          <p:cNvSpPr/>
          <p:nvPr/>
        </p:nvSpPr>
        <p:spPr>
          <a:xfrm>
            <a:off x="3187700" y="3124200"/>
            <a:ext cx="228600" cy="406400"/>
          </a:xfrm>
          <a:prstGeom prst="downArrow">
            <a:avLst/>
          </a:prstGeom>
          <a:solidFill>
            <a:srgbClr val="1E1E1E"/>
          </a:solidFill>
          <a:ln w="12700">
            <a:solidFill>
              <a:srgbClr val="1E1E1E"/>
            </a:solidFill>
            <a:prstDash val="solid"/>
          </a:ln>
        </p:spPr>
      </p:sp>
      <p:sp>
        <p:nvSpPr>
          <p:cNvPr id="8" name="Text 5"/>
          <p:cNvSpPr/>
          <p:nvPr/>
        </p:nvSpPr>
        <p:spPr>
          <a:xfrm>
            <a:off x="1524000" y="3632200"/>
            <a:ext cx="3556000" cy="533400"/>
          </a:xfrm>
          <a:prstGeom prst="roundRect">
            <a:avLst>
              <a:gd name="adj" fmla="val 16667"/>
            </a:avLst>
          </a:prstGeom>
          <a:solidFill>
            <a:srgbClr val="D0EBFF"/>
          </a:solidFill>
          <a:ln w="28575">
            <a:solidFill>
              <a:srgbClr val="1E1E1E"/>
            </a:solidFill>
          </a:ln>
        </p:spPr>
        <p:txBody>
          <a:bodyPr wrap="square" lIns="76200" tIns="76200" rIns="76200" bIns="76200" rtlCol="0" anchor="ctr"/>
          <a:lstStyle/>
          <a:p>
            <a:pPr algn="ctr" indent="0" marL="0">
              <a:lnSpc>
                <a:spcPct val="105000"/>
              </a:lnSpc>
              <a:buNone/>
            </a:pPr>
            <a:r>
              <a:rPr lang="en-US" sz="1500" dirty="0">
                <a:solidFill>
                  <a:srgbClr val="1E1E1E"/>
                </a:solidFill>
                <a:latin typeface="Nunito" pitchFamily="34" charset="0"/>
                <a:ea typeface="Nunito" pitchFamily="34" charset="-122"/>
                <a:cs typeface="Nunito" pitchFamily="34" charset="-120"/>
              </a:rPr>
              <a:t>fusionar los 2 más cercanos</a:t>
            </a:r>
            <a:endParaRPr lang="en-US" sz="1500" dirty="0"/>
          </a:p>
        </p:txBody>
      </p:sp>
      <p:sp>
        <p:nvSpPr>
          <p:cNvPr id="9" name="Shape 6"/>
          <p:cNvSpPr/>
          <p:nvPr/>
        </p:nvSpPr>
        <p:spPr>
          <a:xfrm>
            <a:off x="3187700" y="4241800"/>
            <a:ext cx="228600" cy="406400"/>
          </a:xfrm>
          <a:prstGeom prst="downArrow">
            <a:avLst/>
          </a:prstGeom>
          <a:solidFill>
            <a:srgbClr val="1E1E1E"/>
          </a:solidFill>
          <a:ln w="12700">
            <a:solidFill>
              <a:srgbClr val="1E1E1E"/>
            </a:solidFill>
            <a:prstDash val="solid"/>
          </a:ln>
        </p:spPr>
      </p:sp>
      <p:sp>
        <p:nvSpPr>
          <p:cNvPr id="10" name="Text 7"/>
          <p:cNvSpPr/>
          <p:nvPr/>
        </p:nvSpPr>
        <p:spPr>
          <a:xfrm>
            <a:off x="1524000" y="4749800"/>
            <a:ext cx="3556000" cy="533400"/>
          </a:xfrm>
          <a:prstGeom prst="roundRect">
            <a:avLst>
              <a:gd name="adj" fmla="val 16667"/>
            </a:avLst>
          </a:prstGeom>
          <a:solidFill>
            <a:srgbClr val="A5D8FF"/>
          </a:solidFill>
          <a:ln w="28575">
            <a:solidFill>
              <a:srgbClr val="1E1E1E"/>
            </a:solidFill>
          </a:ln>
        </p:spPr>
        <p:txBody>
          <a:bodyPr wrap="square" lIns="76200" tIns="76200" rIns="76200" bIns="76200" rtlCol="0" anchor="ctr"/>
          <a:lstStyle/>
          <a:p>
            <a:pPr algn="ctr" indent="0" marL="0">
              <a:lnSpc>
                <a:spcPct val="105000"/>
              </a:lnSpc>
              <a:buNone/>
            </a:pPr>
            <a:r>
              <a:rPr lang="en-US" sz="1500" dirty="0">
                <a:solidFill>
                  <a:srgbClr val="1E1E1E"/>
                </a:solidFill>
                <a:latin typeface="Nunito" pitchFamily="34" charset="0"/>
                <a:ea typeface="Nunito" pitchFamily="34" charset="-122"/>
                <a:cs typeface="Nunito" pitchFamily="34" charset="-120"/>
              </a:rPr>
              <a:t>1 cluster con todo</a:t>
            </a:r>
            <a:endParaRPr lang="en-US" sz="1500" dirty="0"/>
          </a:p>
        </p:txBody>
      </p:sp>
      <p:sp>
        <p:nvSpPr>
          <p:cNvPr id="11" name="Text 8"/>
          <p:cNvSpPr txBox="1"/>
          <p:nvPr/>
        </p:nvSpPr>
        <p:spPr>
          <a:xfrm>
            <a:off x="6324600" y="1663700"/>
            <a:ext cx="4978400" cy="406400"/>
          </a:xfrm>
          <a:prstGeom prst="rect">
            <a:avLst/>
          </a:prstGeom>
          <a:noFill/>
          <a:ln/>
        </p:spPr>
        <p:txBody>
          <a:bodyPr wrap="square" lIns="0" tIns="0" rIns="0" bIns="0" rtlCol="0" anchor="t"/>
          <a:lstStyle/>
          <a:p>
            <a:pPr algn="ctr" indent="0" marL="0">
              <a:lnSpc>
                <a:spcPct val="100000"/>
              </a:lnSpc>
              <a:buNone/>
            </a:pPr>
            <a:r>
              <a:rPr lang="en-US" sz="2200" b="1" dirty="0">
                <a:solidFill>
                  <a:srgbClr val="E8590C"/>
                </a:solidFill>
                <a:latin typeface="Kalam" pitchFamily="34" charset="0"/>
                <a:ea typeface="Kalam" pitchFamily="34" charset="-122"/>
                <a:cs typeface="Kalam" pitchFamily="34" charset="-120"/>
              </a:rPr>
              <a:t>Divisivo · DIANA</a:t>
            </a:r>
            <a:endParaRPr lang="en-US" sz="2200" dirty="0"/>
          </a:p>
        </p:txBody>
      </p:sp>
      <p:sp>
        <p:nvSpPr>
          <p:cNvPr id="12" name="Text 9"/>
          <p:cNvSpPr txBox="1"/>
          <p:nvPr/>
        </p:nvSpPr>
        <p:spPr>
          <a:xfrm>
            <a:off x="6324600" y="2095500"/>
            <a:ext cx="4978400" cy="254000"/>
          </a:xfrm>
          <a:prstGeom prst="rect">
            <a:avLst/>
          </a:prstGeom>
          <a:noFill/>
          <a:ln/>
        </p:spPr>
        <p:txBody>
          <a:bodyPr wrap="square" lIns="0" tIns="0" rIns="0" bIns="0" rtlCol="0" anchor="t"/>
          <a:lstStyle/>
          <a:p>
            <a:pPr algn="ctr" indent="0" marL="0">
              <a:lnSpc>
                <a:spcPct val="100000"/>
              </a:lnSpc>
              <a:buNone/>
            </a:pPr>
            <a:r>
              <a:rPr lang="en-US" sz="1300" dirty="0">
                <a:solidFill>
                  <a:srgbClr val="495057"/>
                </a:solidFill>
                <a:latin typeface="Nunito" pitchFamily="34" charset="0"/>
                <a:ea typeface="Nunito" pitchFamily="34" charset="-122"/>
                <a:cs typeface="Nunito" pitchFamily="34" charset="-120"/>
              </a:rPr>
              <a:t>de arriba hacia abajo · heurístico</a:t>
            </a:r>
            <a:endParaRPr lang="en-US" sz="1300" dirty="0"/>
          </a:p>
        </p:txBody>
      </p:sp>
      <p:sp>
        <p:nvSpPr>
          <p:cNvPr id="13" name="Text 10"/>
          <p:cNvSpPr/>
          <p:nvPr/>
        </p:nvSpPr>
        <p:spPr>
          <a:xfrm>
            <a:off x="7035800" y="2514600"/>
            <a:ext cx="3556000" cy="533400"/>
          </a:xfrm>
          <a:prstGeom prst="roundRect">
            <a:avLst>
              <a:gd name="adj" fmla="val 16667"/>
            </a:avLst>
          </a:prstGeom>
          <a:solidFill>
            <a:srgbClr val="FFD8A8"/>
          </a:solidFill>
          <a:ln w="28575">
            <a:solidFill>
              <a:srgbClr val="1E1E1E"/>
            </a:solidFill>
          </a:ln>
        </p:spPr>
        <p:txBody>
          <a:bodyPr wrap="square" lIns="76200" tIns="76200" rIns="76200" bIns="76200" rtlCol="0" anchor="ctr"/>
          <a:lstStyle/>
          <a:p>
            <a:pPr algn="ctr" indent="0" marL="0">
              <a:lnSpc>
                <a:spcPct val="105000"/>
              </a:lnSpc>
              <a:buNone/>
            </a:pPr>
            <a:r>
              <a:rPr lang="en-US" sz="1500" dirty="0">
                <a:solidFill>
                  <a:srgbClr val="1E1E1E"/>
                </a:solidFill>
                <a:latin typeface="Nunito" pitchFamily="34" charset="0"/>
                <a:ea typeface="Nunito" pitchFamily="34" charset="-122"/>
                <a:cs typeface="Nunito" pitchFamily="34" charset="-120"/>
              </a:rPr>
              <a:t>1 cluster con todo</a:t>
            </a:r>
            <a:endParaRPr lang="en-US" sz="1500" dirty="0"/>
          </a:p>
        </p:txBody>
      </p:sp>
      <p:sp>
        <p:nvSpPr>
          <p:cNvPr id="14" name="Shape 11"/>
          <p:cNvSpPr/>
          <p:nvPr/>
        </p:nvSpPr>
        <p:spPr>
          <a:xfrm>
            <a:off x="8699500" y="3124200"/>
            <a:ext cx="228600" cy="406400"/>
          </a:xfrm>
          <a:prstGeom prst="downArrow">
            <a:avLst/>
          </a:prstGeom>
          <a:solidFill>
            <a:srgbClr val="1E1E1E"/>
          </a:solidFill>
          <a:ln w="12700">
            <a:solidFill>
              <a:srgbClr val="1E1E1E"/>
            </a:solidFill>
            <a:prstDash val="solid"/>
          </a:ln>
        </p:spPr>
      </p:sp>
      <p:sp>
        <p:nvSpPr>
          <p:cNvPr id="15" name="Text 12"/>
          <p:cNvSpPr/>
          <p:nvPr/>
        </p:nvSpPr>
        <p:spPr>
          <a:xfrm>
            <a:off x="7035800" y="3632200"/>
            <a:ext cx="3556000" cy="533400"/>
          </a:xfrm>
          <a:prstGeom prst="roundRect">
            <a:avLst>
              <a:gd name="adj" fmla="val 16667"/>
            </a:avLst>
          </a:prstGeom>
          <a:solidFill>
            <a:srgbClr val="FFE8CC"/>
          </a:solidFill>
          <a:ln w="28575">
            <a:solidFill>
              <a:srgbClr val="1E1E1E"/>
            </a:solidFill>
          </a:ln>
        </p:spPr>
        <p:txBody>
          <a:bodyPr wrap="square" lIns="76200" tIns="76200" rIns="76200" bIns="76200" rtlCol="0" anchor="ctr"/>
          <a:lstStyle/>
          <a:p>
            <a:pPr algn="ctr" indent="0" marL="0">
              <a:lnSpc>
                <a:spcPct val="105000"/>
              </a:lnSpc>
              <a:buNone/>
            </a:pPr>
            <a:r>
              <a:rPr lang="en-US" sz="1500" dirty="0">
                <a:solidFill>
                  <a:srgbClr val="1E1E1E"/>
                </a:solidFill>
                <a:latin typeface="Nunito" pitchFamily="34" charset="0"/>
                <a:ea typeface="Nunito" pitchFamily="34" charset="-122"/>
                <a:cs typeface="Nunito" pitchFamily="34" charset="-120"/>
              </a:rPr>
              <a:t>partir un cluster en 2</a:t>
            </a:r>
            <a:endParaRPr lang="en-US" sz="1500" dirty="0"/>
          </a:p>
        </p:txBody>
      </p:sp>
      <p:sp>
        <p:nvSpPr>
          <p:cNvPr id="16" name="Shape 13"/>
          <p:cNvSpPr/>
          <p:nvPr/>
        </p:nvSpPr>
        <p:spPr>
          <a:xfrm>
            <a:off x="8699500" y="4241800"/>
            <a:ext cx="228600" cy="406400"/>
          </a:xfrm>
          <a:prstGeom prst="downArrow">
            <a:avLst/>
          </a:prstGeom>
          <a:solidFill>
            <a:srgbClr val="1E1E1E"/>
          </a:solidFill>
          <a:ln w="12700">
            <a:solidFill>
              <a:srgbClr val="1E1E1E"/>
            </a:solidFill>
            <a:prstDash val="solid"/>
          </a:ln>
        </p:spPr>
      </p:sp>
      <p:sp>
        <p:nvSpPr>
          <p:cNvPr id="17" name="Text 14"/>
          <p:cNvSpPr/>
          <p:nvPr/>
        </p:nvSpPr>
        <p:spPr>
          <a:xfrm>
            <a:off x="7035800" y="4749800"/>
            <a:ext cx="3556000" cy="533400"/>
          </a:xfrm>
          <a:prstGeom prst="roundRect">
            <a:avLst>
              <a:gd name="adj" fmla="val 16667"/>
            </a:avLst>
          </a:prstGeom>
          <a:solidFill>
            <a:srgbClr val="FFE8CC"/>
          </a:solidFill>
          <a:ln w="28575">
            <a:solidFill>
              <a:srgbClr val="1E1E1E"/>
            </a:solidFill>
          </a:ln>
        </p:spPr>
        <p:txBody>
          <a:bodyPr wrap="square" lIns="76200" tIns="76200" rIns="76200" bIns="76200" rtlCol="0" anchor="ctr"/>
          <a:lstStyle/>
          <a:p>
            <a:pPr algn="ctr" indent="0" marL="0">
              <a:lnSpc>
                <a:spcPct val="105000"/>
              </a:lnSpc>
              <a:buNone/>
            </a:pPr>
            <a:r>
              <a:rPr lang="en-US" sz="1500" dirty="0">
                <a:solidFill>
                  <a:srgbClr val="1E1E1E"/>
                </a:solidFill>
                <a:latin typeface="Nunito" pitchFamily="34" charset="0"/>
                <a:ea typeface="Nunito" pitchFamily="34" charset="-122"/>
                <a:cs typeface="Nunito" pitchFamily="34" charset="-120"/>
              </a:rPr>
              <a:t>n clusters de 1 punto</a:t>
            </a:r>
            <a:endParaRPr lang="en-US" sz="1500" dirty="0"/>
          </a:p>
        </p:txBody>
      </p:sp>
      <p:sp>
        <p:nvSpPr>
          <p:cNvPr id="18" name="Text 15"/>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4 / 17</a:t>
            </a:r>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 · diagrama 2 en </a:t>
            </a:r>
            <a:pPr algn="l" indent="0" marL="0">
              <a:lnSpc>
                <a:spcPct val="100000"/>
              </a:lnSpc>
              <a:buNone/>
            </a:pPr>
            <a:r>
              <a:rPr lang="en-US" sz="1200" u="sng" dirty="0">
                <a:solidFill>
                  <a:srgbClr val="1971C2"/>
                </a:solidFill>
                <a:latin typeface="Nunito" pitchFamily="34" charset="0"/>
                <a:ea typeface="Nunito" pitchFamily="34" charset="-122"/>
                <a:cs typeface="Nuni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docs/diagramas.md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3F5"/>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Solo necesita dos ingredientes</a:t>
            </a:r>
            <a:endParaRPr lang="en-US" sz="3800" dirty="0"/>
          </a:p>
        </p:txBody>
      </p:sp>
      <p:sp>
        <p:nvSpPr>
          <p:cNvPr id="4" name="Shape 1"/>
          <p:cNvSpPr/>
          <p:nvPr/>
        </p:nvSpPr>
        <p:spPr>
          <a:xfrm rot="-48000">
            <a:off x="812800" y="1905000"/>
            <a:ext cx="5130800" cy="3429000"/>
          </a:xfrm>
          <a:prstGeom prst="roundRect">
            <a:avLst>
              <a:gd name="adj" fmla="val 2963"/>
            </a:avLst>
          </a:prstGeom>
          <a:solidFill>
            <a:srgbClr val="FFFFFF"/>
          </a:solidFill>
          <a:ln w="28575">
            <a:solidFill>
              <a:srgbClr val="1E1E1E"/>
            </a:solidFill>
            <a:prstDash val="solid"/>
          </a:ln>
        </p:spPr>
      </p:sp>
      <p:sp>
        <p:nvSpPr>
          <p:cNvPr id="5" name="Text 2"/>
          <p:cNvSpPr txBox="1"/>
          <p:nvPr/>
        </p:nvSpPr>
        <p:spPr>
          <a:xfrm>
            <a:off x="1117600" y="2184400"/>
            <a:ext cx="4521200" cy="508000"/>
          </a:xfrm>
          <a:prstGeom prst="rect">
            <a:avLst/>
          </a:prstGeom>
          <a:noFill/>
          <a:ln/>
        </p:spPr>
        <p:txBody>
          <a:bodyPr wrap="square" lIns="0" tIns="0" rIns="0" bIns="0" rtlCol="0" anchor="t"/>
          <a:lstStyle/>
          <a:p>
            <a:pPr algn="l" indent="0" marL="0">
              <a:lnSpc>
                <a:spcPct val="100000"/>
              </a:lnSpc>
              <a:buNone/>
            </a:pPr>
            <a:r>
              <a:rPr lang="en-US" sz="2800" dirty="0">
                <a:solidFill>
                  <a:srgbClr val="1971C2"/>
                </a:solidFill>
                <a:latin typeface="Fira Code" pitchFamily="34" charset="0"/>
                <a:ea typeface="Fira Code" pitchFamily="34" charset="-122"/>
                <a:cs typeface="Fira Code" pitchFamily="34" charset="-120"/>
              </a:rPr>
              <a:t>d(x, y)</a:t>
            </a:r>
            <a:endParaRPr lang="en-US" sz="2800" dirty="0"/>
          </a:p>
        </p:txBody>
      </p:sp>
      <p:sp>
        <p:nvSpPr>
          <p:cNvPr id="6" name="Text 3"/>
          <p:cNvSpPr txBox="1"/>
          <p:nvPr/>
        </p:nvSpPr>
        <p:spPr>
          <a:xfrm>
            <a:off x="1117600" y="2794000"/>
            <a:ext cx="4521200" cy="406400"/>
          </a:xfrm>
          <a:prstGeom prst="rect">
            <a:avLst/>
          </a:prstGeom>
          <a:noFill/>
          <a:ln/>
        </p:spPr>
        <p:txBody>
          <a:bodyPr wrap="square" lIns="0" tIns="0" rIns="0" bIns="0" rtlCol="0" anchor="t"/>
          <a:lstStyle/>
          <a:p>
            <a:pPr algn="l" indent="0" marL="0">
              <a:lnSpc>
                <a:spcPct val="100000"/>
              </a:lnSpc>
              <a:buNone/>
            </a:pPr>
            <a:r>
              <a:rPr lang="en-US" sz="2200" b="1" dirty="0">
                <a:solidFill>
                  <a:srgbClr val="1E1E1E"/>
                </a:solidFill>
                <a:latin typeface="Kalam" pitchFamily="34" charset="0"/>
                <a:ea typeface="Kalam" pitchFamily="34" charset="-122"/>
                <a:cs typeface="Kalam" pitchFamily="34" charset="-120"/>
              </a:rPr>
              <a:t>Distancia entre puntos</a:t>
            </a:r>
            <a:endParaRPr lang="en-US" sz="2200" dirty="0"/>
          </a:p>
        </p:txBody>
      </p:sp>
      <p:sp>
        <p:nvSpPr>
          <p:cNvPr id="7" name="Text 4"/>
          <p:cNvSpPr txBox="1"/>
          <p:nvPr/>
        </p:nvSpPr>
        <p:spPr>
          <a:xfrm>
            <a:off x="1117600" y="3302000"/>
            <a:ext cx="4521200" cy="889000"/>
          </a:xfrm>
          <a:prstGeom prst="rect">
            <a:avLst/>
          </a:prstGeom>
          <a:noFill/>
          <a:ln/>
        </p:spPr>
        <p:txBody>
          <a:bodyPr wrap="square" lIns="0" tIns="0" rIns="0" bIns="0" rtlCol="0" anchor="t"/>
          <a:lstStyle/>
          <a:p>
            <a:pPr algn="l" indent="0" marL="0">
              <a:lnSpc>
                <a:spcPct val="115000"/>
              </a:lnSpc>
              <a:buNone/>
            </a:pPr>
            <a:r>
              <a:rPr lang="en-US" sz="1500" dirty="0">
                <a:solidFill>
                  <a:srgbClr val="495057"/>
                </a:solidFill>
                <a:latin typeface="Nunito" pitchFamily="34" charset="0"/>
                <a:ea typeface="Nunito" pitchFamily="34" charset="-122"/>
                <a:cs typeface="Nunito" pitchFamily="34" charset="-120"/>
              </a:rPr>
              <a:t>Euclidiana, Manhattan, coseno… Define qué significa “parecerse”.</a:t>
            </a:r>
            <a:endParaRPr lang="en-US" sz="1500" dirty="0"/>
          </a:p>
        </p:txBody>
      </p:sp>
      <p:sp>
        <p:nvSpPr>
          <p:cNvPr id="8" name="Text 5"/>
          <p:cNvSpPr/>
          <p:nvPr/>
        </p:nvSpPr>
        <p:spPr>
          <a:xfrm>
            <a:off x="1117600" y="4381500"/>
            <a:ext cx="3556000" cy="406400"/>
          </a:xfrm>
          <a:prstGeom prst="roundRect">
            <a:avLst>
              <a:gd name="adj" fmla="val 15625"/>
            </a:avLst>
          </a:prstGeom>
          <a:solidFill>
            <a:srgbClr val="FFEC99"/>
          </a:solidFill>
          <a:ln w="6350">
            <a:solidFill>
              <a:srgbClr val="FFEC99"/>
            </a:solidFill>
          </a:ln>
        </p:spPr>
        <p:txBody>
          <a:bodyPr wrap="square" lIns="114300" tIns="114300" rIns="114300" bIns="114300" rtlCol="0" anchor="ctr"/>
          <a:lstStyle/>
          <a:p>
            <a:pPr algn="l" indent="0" marL="0">
              <a:lnSpc>
                <a:spcPct val="105000"/>
              </a:lnSpc>
              <a:buNone/>
            </a:pPr>
            <a:r>
              <a:rPr lang="en-US" sz="1400" b="1" dirty="0">
                <a:solidFill>
                  <a:srgbClr val="1E1E1E"/>
                </a:solidFill>
                <a:latin typeface="Nunito" pitchFamily="34" charset="0"/>
                <a:ea typeface="Nunito" pitchFamily="34" charset="-122"/>
                <a:cs typeface="Nunito" pitchFamily="34" charset="-120"/>
              </a:rPr>
              <a:t>Escala tus variables antes.</a:t>
            </a:r>
            <a:endParaRPr lang="en-US" sz="1400" dirty="0"/>
          </a:p>
        </p:txBody>
      </p:sp>
      <p:sp>
        <p:nvSpPr>
          <p:cNvPr id="9" name="Shape 6"/>
          <p:cNvSpPr/>
          <p:nvPr/>
        </p:nvSpPr>
        <p:spPr>
          <a:xfrm rot="48000">
            <a:off x="6248400" y="1905000"/>
            <a:ext cx="5130800" cy="3429000"/>
          </a:xfrm>
          <a:prstGeom prst="roundRect">
            <a:avLst>
              <a:gd name="adj" fmla="val 2963"/>
            </a:avLst>
          </a:prstGeom>
          <a:solidFill>
            <a:srgbClr val="FFFFFF"/>
          </a:solidFill>
          <a:ln w="28575">
            <a:solidFill>
              <a:srgbClr val="1E1E1E"/>
            </a:solidFill>
            <a:prstDash val="solid"/>
          </a:ln>
        </p:spPr>
      </p:sp>
      <p:sp>
        <p:nvSpPr>
          <p:cNvPr id="10" name="Text 7"/>
          <p:cNvSpPr txBox="1"/>
          <p:nvPr/>
        </p:nvSpPr>
        <p:spPr>
          <a:xfrm>
            <a:off x="6553200" y="2184400"/>
            <a:ext cx="4521200" cy="508000"/>
          </a:xfrm>
          <a:prstGeom prst="rect">
            <a:avLst/>
          </a:prstGeom>
          <a:noFill/>
          <a:ln/>
        </p:spPr>
        <p:txBody>
          <a:bodyPr wrap="square" lIns="0" tIns="0" rIns="0" bIns="0" rtlCol="0" anchor="t"/>
          <a:lstStyle/>
          <a:p>
            <a:pPr algn="l" indent="0" marL="0">
              <a:lnSpc>
                <a:spcPct val="100000"/>
              </a:lnSpc>
              <a:buNone/>
            </a:pPr>
            <a:r>
              <a:rPr lang="en-US" sz="2800" dirty="0">
                <a:solidFill>
                  <a:srgbClr val="E8590C"/>
                </a:solidFill>
                <a:latin typeface="Fira Code" pitchFamily="34" charset="0"/>
                <a:ea typeface="Fira Code" pitchFamily="34" charset="-122"/>
                <a:cs typeface="Fira Code" pitchFamily="34" charset="-120"/>
              </a:rPr>
              <a:t>D(A, B)</a:t>
            </a:r>
            <a:endParaRPr lang="en-US" sz="2800" dirty="0"/>
          </a:p>
        </p:txBody>
      </p:sp>
      <p:sp>
        <p:nvSpPr>
          <p:cNvPr id="11" name="Text 8"/>
          <p:cNvSpPr txBox="1"/>
          <p:nvPr/>
        </p:nvSpPr>
        <p:spPr>
          <a:xfrm>
            <a:off x="6553200" y="2794000"/>
            <a:ext cx="4521200" cy="406400"/>
          </a:xfrm>
          <a:prstGeom prst="rect">
            <a:avLst/>
          </a:prstGeom>
          <a:noFill/>
          <a:ln/>
        </p:spPr>
        <p:txBody>
          <a:bodyPr wrap="square" lIns="0" tIns="0" rIns="0" bIns="0" rtlCol="0" anchor="t"/>
          <a:lstStyle/>
          <a:p>
            <a:pPr algn="l" indent="0" marL="0">
              <a:lnSpc>
                <a:spcPct val="100000"/>
              </a:lnSpc>
              <a:buNone/>
            </a:pPr>
            <a:r>
              <a:rPr lang="en-US" sz="2200" b="1" dirty="0">
                <a:solidFill>
                  <a:srgbClr val="1E1E1E"/>
                </a:solidFill>
                <a:latin typeface="Kalam" pitchFamily="34" charset="0"/>
                <a:ea typeface="Kalam" pitchFamily="34" charset="-122"/>
                <a:cs typeface="Kalam" pitchFamily="34" charset="-120"/>
              </a:rPr>
              <a:t>Criterio de enlace</a:t>
            </a:r>
            <a:endParaRPr lang="en-US" sz="2200" dirty="0"/>
          </a:p>
        </p:txBody>
      </p:sp>
      <p:sp>
        <p:nvSpPr>
          <p:cNvPr id="12" name="Text 9"/>
          <p:cNvSpPr txBox="1"/>
          <p:nvPr/>
        </p:nvSpPr>
        <p:spPr>
          <a:xfrm>
            <a:off x="6553200" y="3302000"/>
            <a:ext cx="4521200" cy="889000"/>
          </a:xfrm>
          <a:prstGeom prst="rect">
            <a:avLst/>
          </a:prstGeom>
          <a:noFill/>
          <a:ln/>
        </p:spPr>
        <p:txBody>
          <a:bodyPr wrap="square" lIns="0" tIns="0" rIns="0" bIns="0" rtlCol="0" anchor="t"/>
          <a:lstStyle/>
          <a:p>
            <a:pPr algn="l" indent="0" marL="0">
              <a:lnSpc>
                <a:spcPct val="115000"/>
              </a:lnSpc>
              <a:buNone/>
            </a:pPr>
            <a:r>
              <a:rPr lang="en-US" sz="1500" dirty="0">
                <a:solidFill>
                  <a:srgbClr val="495057"/>
                </a:solidFill>
                <a:latin typeface="Nunito" pitchFamily="34" charset="0"/>
                <a:ea typeface="Nunito" pitchFamily="34" charset="-122"/>
                <a:cs typeface="Nunito" pitchFamily="34" charset="-120"/>
              </a:rPr>
              <a:t>Cómo medir la distancia entre dos </a:t>
            </a:r>
            <a:pPr algn="l" indent="0" marL="0">
              <a:lnSpc>
                <a:spcPct val="115000"/>
              </a:lnSpc>
              <a:buNone/>
            </a:pPr>
            <a:r>
              <a:rPr lang="en-US" sz="1500" b="1" dirty="0">
                <a:solidFill>
                  <a:srgbClr val="1E1E1E"/>
                </a:solidFill>
                <a:latin typeface="Nunito" pitchFamily="34" charset="0"/>
                <a:ea typeface="Nunito" pitchFamily="34" charset="-122"/>
                <a:cs typeface="Nunito" pitchFamily="34" charset="-120"/>
              </a:rPr>
              <a:t>grupos</a:t>
            </a:r>
            <a:pPr algn="l" indent="0" marL="0">
              <a:lnSpc>
                <a:spcPct val="115000"/>
              </a:lnSpc>
              <a:buNone/>
            </a:pPr>
            <a:r>
              <a:rPr lang="en-US" sz="1500" dirty="0">
                <a:solidFill>
                  <a:srgbClr val="495057"/>
                </a:solidFill>
                <a:latin typeface="Nunito" pitchFamily="34" charset="0"/>
                <a:ea typeface="Nunito" pitchFamily="34" charset="-122"/>
                <a:cs typeface="Nunito" pitchFamily="34" charset="-120"/>
              </a:rPr>
              <a:t> a partir de sus puntos.</a:t>
            </a:r>
            <a:endParaRPr lang="en-US" sz="1500" dirty="0"/>
          </a:p>
        </p:txBody>
      </p:sp>
      <p:sp>
        <p:nvSpPr>
          <p:cNvPr id="13" name="Text 10"/>
          <p:cNvSpPr/>
          <p:nvPr/>
        </p:nvSpPr>
        <p:spPr>
          <a:xfrm>
            <a:off x="6553200" y="4381500"/>
            <a:ext cx="3556000" cy="406400"/>
          </a:xfrm>
          <a:prstGeom prst="roundRect">
            <a:avLst>
              <a:gd name="adj" fmla="val 15625"/>
            </a:avLst>
          </a:prstGeom>
          <a:solidFill>
            <a:srgbClr val="FFEC99"/>
          </a:solidFill>
          <a:ln w="6350">
            <a:solidFill>
              <a:srgbClr val="FFEC99"/>
            </a:solidFill>
          </a:ln>
        </p:spPr>
        <p:txBody>
          <a:bodyPr wrap="square" lIns="114300" tIns="114300" rIns="114300" bIns="114300" rtlCol="0" anchor="ctr"/>
          <a:lstStyle/>
          <a:p>
            <a:pPr algn="l" indent="0" marL="0">
              <a:lnSpc>
                <a:spcPct val="105000"/>
              </a:lnSpc>
              <a:buNone/>
            </a:pPr>
            <a:r>
              <a:rPr lang="en-US" sz="1400" b="1" dirty="0">
                <a:solidFill>
                  <a:srgbClr val="1E1E1E"/>
                </a:solidFill>
                <a:latin typeface="Nunito" pitchFamily="34" charset="0"/>
                <a:ea typeface="Nunito" pitchFamily="34" charset="-122"/>
                <a:cs typeface="Nunito" pitchFamily="34" charset="-120"/>
              </a:rPr>
              <a:t>Es la decisión más importante.</a:t>
            </a:r>
            <a:endParaRPr lang="en-US" sz="1400" dirty="0"/>
          </a:p>
        </p:txBody>
      </p:sp>
      <p:sp>
        <p:nvSpPr>
          <p:cNvPr id="14" name="Text 11"/>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5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7"/>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E8590C"/>
                </a:solidFill>
                <a:latin typeface="Nunito" pitchFamily="34" charset="0"/>
                <a:ea typeface="Nunito" pitchFamily="34" charset="-122"/>
                <a:cs typeface="Nunito" pitchFamily="34" charset="-120"/>
              </a:rPr>
              <a:t>CÓMO FUNCIONA</a:t>
            </a:r>
            <a:endParaRPr lang="en-US" sz="1200" dirty="0"/>
          </a:p>
        </p:txBody>
      </p:sp>
      <p:sp>
        <p:nvSpPr>
          <p:cNvPr id="4" name="Text 1"/>
          <p:cNvSpPr txBox="1"/>
          <p:nvPr/>
        </p:nvSpPr>
        <p:spPr>
          <a:xfrm>
            <a:off x="812800" y="10795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El algoritmo en 4 pasos</a:t>
            </a:r>
            <a:endParaRPr lang="en-US" sz="3800" dirty="0"/>
          </a:p>
        </p:txBody>
      </p:sp>
      <p:sp>
        <p:nvSpPr>
          <p:cNvPr id="5" name="Text 2"/>
          <p:cNvSpPr/>
          <p:nvPr/>
        </p:nvSpPr>
        <p:spPr>
          <a:xfrm>
            <a:off x="812800" y="2540000"/>
            <a:ext cx="2298700" cy="1524000"/>
          </a:xfrm>
          <a:prstGeom prst="roundRect">
            <a:avLst>
              <a:gd name="adj" fmla="val 6667"/>
            </a:avLst>
          </a:prstGeom>
          <a:solidFill>
            <a:srgbClr val="D0EBFF"/>
          </a:solidFill>
          <a:ln w="28575">
            <a:solidFill>
              <a:srgbClr val="1E1E1E"/>
            </a:solidFill>
          </a:ln>
        </p:spPr>
        <p:txBody>
          <a:bodyPr wrap="square" lIns="177800" tIns="177800" rIns="177800" bIns="177800" rtlCol="0" anchor="t"/>
          <a:lstStyle/>
          <a:p>
            <a:pPr algn="l" indent="0" marL="0">
              <a:lnSpc>
                <a:spcPct val="105000"/>
              </a:lnSpc>
              <a:spcAft>
                <a:spcPts val="600"/>
              </a:spcAft>
              <a:buNone/>
            </a:pPr>
            <a:r>
              <a:rPr lang="en-US" sz="2200" b="1" dirty="0">
                <a:solidFill>
                  <a:srgbClr val="1971C2"/>
                </a:solidFill>
                <a:latin typeface="Kalam" pitchFamily="34" charset="0"/>
                <a:ea typeface="Kalam" pitchFamily="34" charset="-122"/>
                <a:cs typeface="Kalam" pitchFamily="34" charset="-120"/>
              </a:rPr>
              <a:t>1</a:t>
            </a:r>
            <a:endParaRPr lang="en-US" sz="2200" dirty="0"/>
          </a:p>
          <a:p>
            <a:pPr algn="l" indent="0" marL="0">
              <a:lnSpc>
                <a:spcPct val="105000"/>
              </a:lnSpc>
              <a:buNone/>
            </a:pPr>
            <a:r>
              <a:rPr lang="en-US" sz="1400" dirty="0">
                <a:solidFill>
                  <a:srgbClr val="1E1E1E"/>
                </a:solidFill>
                <a:latin typeface="Nunito" pitchFamily="34" charset="0"/>
                <a:ea typeface="Nunito" pitchFamily="34" charset="-122"/>
                <a:cs typeface="Nunito" pitchFamily="34" charset="-120"/>
              </a:rPr>
              <a:t>Cada punto es su propio cluster</a:t>
            </a:r>
            <a:endParaRPr lang="en-US" sz="2200" dirty="0"/>
          </a:p>
        </p:txBody>
      </p:sp>
      <p:sp>
        <p:nvSpPr>
          <p:cNvPr id="6" name="Shape 3"/>
          <p:cNvSpPr/>
          <p:nvPr/>
        </p:nvSpPr>
        <p:spPr>
          <a:xfrm>
            <a:off x="3155950" y="3187700"/>
            <a:ext cx="368300" cy="228600"/>
          </a:xfrm>
          <a:prstGeom prst="rightArrow">
            <a:avLst/>
          </a:prstGeom>
          <a:solidFill>
            <a:srgbClr val="1E1E1E"/>
          </a:solidFill>
          <a:ln w="12700">
            <a:solidFill>
              <a:srgbClr val="1E1E1E"/>
            </a:solidFill>
            <a:prstDash val="solid"/>
          </a:ln>
        </p:spPr>
      </p:sp>
      <p:sp>
        <p:nvSpPr>
          <p:cNvPr id="7" name="Text 4"/>
          <p:cNvSpPr/>
          <p:nvPr/>
        </p:nvSpPr>
        <p:spPr>
          <a:xfrm>
            <a:off x="3568700" y="2540000"/>
            <a:ext cx="2298700" cy="1524000"/>
          </a:xfrm>
          <a:prstGeom prst="roundRect">
            <a:avLst>
              <a:gd name="adj" fmla="val 6667"/>
            </a:avLst>
          </a:prstGeom>
          <a:solidFill>
            <a:srgbClr val="FFD8A8"/>
          </a:solidFill>
          <a:ln w="28575">
            <a:solidFill>
              <a:srgbClr val="1E1E1E"/>
            </a:solidFill>
          </a:ln>
        </p:spPr>
        <p:txBody>
          <a:bodyPr wrap="square" lIns="177800" tIns="177800" rIns="177800" bIns="177800" rtlCol="0" anchor="t"/>
          <a:lstStyle/>
          <a:p>
            <a:pPr algn="l" indent="0" marL="0">
              <a:lnSpc>
                <a:spcPct val="105000"/>
              </a:lnSpc>
              <a:spcAft>
                <a:spcPts val="600"/>
              </a:spcAft>
              <a:buNone/>
            </a:pPr>
            <a:r>
              <a:rPr lang="en-US" sz="2200" b="1" dirty="0">
                <a:solidFill>
                  <a:srgbClr val="E8590C"/>
                </a:solidFill>
                <a:latin typeface="Kalam" pitchFamily="34" charset="0"/>
                <a:ea typeface="Kalam" pitchFamily="34" charset="-122"/>
                <a:cs typeface="Kalam" pitchFamily="34" charset="-120"/>
              </a:rPr>
              <a:t>2</a:t>
            </a:r>
            <a:endParaRPr lang="en-US" sz="2200" dirty="0"/>
          </a:p>
          <a:p>
            <a:pPr algn="l" indent="0" marL="0">
              <a:lnSpc>
                <a:spcPct val="105000"/>
              </a:lnSpc>
              <a:buNone/>
            </a:pPr>
            <a:r>
              <a:rPr lang="en-US" sz="1400" dirty="0">
                <a:solidFill>
                  <a:srgbClr val="1E1E1E"/>
                </a:solidFill>
                <a:latin typeface="Nunito" pitchFamily="34" charset="0"/>
                <a:ea typeface="Nunito" pitchFamily="34" charset="-122"/>
                <a:cs typeface="Nunito" pitchFamily="34" charset="-120"/>
              </a:rPr>
              <a:t>Buscar el par con menor D(A, B)</a:t>
            </a:r>
            <a:endParaRPr lang="en-US" sz="2200" dirty="0"/>
          </a:p>
        </p:txBody>
      </p:sp>
      <p:sp>
        <p:nvSpPr>
          <p:cNvPr id="8" name="Shape 5"/>
          <p:cNvSpPr/>
          <p:nvPr/>
        </p:nvSpPr>
        <p:spPr>
          <a:xfrm>
            <a:off x="5911850" y="3187700"/>
            <a:ext cx="368300" cy="228600"/>
          </a:xfrm>
          <a:prstGeom prst="rightArrow">
            <a:avLst/>
          </a:prstGeom>
          <a:solidFill>
            <a:srgbClr val="1E1E1E"/>
          </a:solidFill>
          <a:ln w="12700">
            <a:solidFill>
              <a:srgbClr val="1E1E1E"/>
            </a:solidFill>
            <a:prstDash val="solid"/>
          </a:ln>
        </p:spPr>
      </p:sp>
      <p:sp>
        <p:nvSpPr>
          <p:cNvPr id="9" name="Text 6"/>
          <p:cNvSpPr/>
          <p:nvPr/>
        </p:nvSpPr>
        <p:spPr>
          <a:xfrm>
            <a:off x="6324600" y="2540000"/>
            <a:ext cx="2298700" cy="1524000"/>
          </a:xfrm>
          <a:prstGeom prst="roundRect">
            <a:avLst>
              <a:gd name="adj" fmla="val 6667"/>
            </a:avLst>
          </a:prstGeom>
          <a:solidFill>
            <a:srgbClr val="FFD8A8"/>
          </a:solidFill>
          <a:ln w="28575">
            <a:solidFill>
              <a:srgbClr val="1E1E1E"/>
            </a:solidFill>
          </a:ln>
        </p:spPr>
        <p:txBody>
          <a:bodyPr wrap="square" lIns="177800" tIns="177800" rIns="177800" bIns="177800" rtlCol="0" anchor="t"/>
          <a:lstStyle/>
          <a:p>
            <a:pPr algn="l" indent="0" marL="0">
              <a:lnSpc>
                <a:spcPct val="105000"/>
              </a:lnSpc>
              <a:spcAft>
                <a:spcPts val="600"/>
              </a:spcAft>
              <a:buNone/>
            </a:pPr>
            <a:r>
              <a:rPr lang="en-US" sz="2200" b="1" dirty="0">
                <a:solidFill>
                  <a:srgbClr val="E8590C"/>
                </a:solidFill>
                <a:latin typeface="Kalam" pitchFamily="34" charset="0"/>
                <a:ea typeface="Kalam" pitchFamily="34" charset="-122"/>
                <a:cs typeface="Kalam" pitchFamily="34" charset="-120"/>
              </a:rPr>
              <a:t>3</a:t>
            </a:r>
            <a:endParaRPr lang="en-US" sz="2200" dirty="0"/>
          </a:p>
          <a:p>
            <a:pPr algn="l" indent="0" marL="0">
              <a:lnSpc>
                <a:spcPct val="105000"/>
              </a:lnSpc>
              <a:buNone/>
            </a:pPr>
            <a:r>
              <a:rPr lang="en-US" sz="1400" dirty="0">
                <a:solidFill>
                  <a:srgbClr val="1E1E1E"/>
                </a:solidFill>
                <a:latin typeface="Nunito" pitchFamily="34" charset="0"/>
                <a:ea typeface="Nunito" pitchFamily="34" charset="-122"/>
                <a:cs typeface="Nunito" pitchFamily="34" charset="-120"/>
              </a:rPr>
              <a:t>Fusionarlos y guardar la altura en Z</a:t>
            </a:r>
            <a:endParaRPr lang="en-US" sz="2200" dirty="0"/>
          </a:p>
        </p:txBody>
      </p:sp>
      <p:sp>
        <p:nvSpPr>
          <p:cNvPr id="10" name="Shape 7"/>
          <p:cNvSpPr/>
          <p:nvPr/>
        </p:nvSpPr>
        <p:spPr>
          <a:xfrm>
            <a:off x="8667750" y="3187700"/>
            <a:ext cx="368300" cy="228600"/>
          </a:xfrm>
          <a:prstGeom prst="rightArrow">
            <a:avLst/>
          </a:prstGeom>
          <a:solidFill>
            <a:srgbClr val="1E1E1E"/>
          </a:solidFill>
          <a:ln w="12700">
            <a:solidFill>
              <a:srgbClr val="1E1E1E"/>
            </a:solidFill>
            <a:prstDash val="solid"/>
          </a:ln>
        </p:spPr>
      </p:sp>
      <p:sp>
        <p:nvSpPr>
          <p:cNvPr id="11" name="Text 8"/>
          <p:cNvSpPr/>
          <p:nvPr/>
        </p:nvSpPr>
        <p:spPr>
          <a:xfrm>
            <a:off x="9080500" y="2540000"/>
            <a:ext cx="2298700" cy="1524000"/>
          </a:xfrm>
          <a:prstGeom prst="roundRect">
            <a:avLst>
              <a:gd name="adj" fmla="val 6667"/>
            </a:avLst>
          </a:prstGeom>
          <a:solidFill>
            <a:srgbClr val="FFD8A8"/>
          </a:solidFill>
          <a:ln w="28575">
            <a:solidFill>
              <a:srgbClr val="1E1E1E"/>
            </a:solidFill>
          </a:ln>
        </p:spPr>
        <p:txBody>
          <a:bodyPr wrap="square" lIns="177800" tIns="177800" rIns="177800" bIns="177800" rtlCol="0" anchor="t"/>
          <a:lstStyle/>
          <a:p>
            <a:pPr algn="l" indent="0" marL="0">
              <a:lnSpc>
                <a:spcPct val="105000"/>
              </a:lnSpc>
              <a:spcAft>
                <a:spcPts val="600"/>
              </a:spcAft>
              <a:buNone/>
            </a:pPr>
            <a:r>
              <a:rPr lang="en-US" sz="2200" b="1" dirty="0">
                <a:solidFill>
                  <a:srgbClr val="E8590C"/>
                </a:solidFill>
                <a:latin typeface="Kalam" pitchFamily="34" charset="0"/>
                <a:ea typeface="Kalam" pitchFamily="34" charset="-122"/>
                <a:cs typeface="Kalam" pitchFamily="34" charset="-120"/>
              </a:rPr>
              <a:t>4</a:t>
            </a:r>
            <a:endParaRPr lang="en-US" sz="2200" dirty="0"/>
          </a:p>
          <a:p>
            <a:pPr algn="l" indent="0" marL="0">
              <a:lnSpc>
                <a:spcPct val="105000"/>
              </a:lnSpc>
              <a:buNone/>
            </a:pPr>
            <a:r>
              <a:rPr lang="en-US" sz="1400" dirty="0">
                <a:solidFill>
                  <a:srgbClr val="1E1E1E"/>
                </a:solidFill>
                <a:latin typeface="Nunito" pitchFamily="34" charset="0"/>
                <a:ea typeface="Nunito" pitchFamily="34" charset="-122"/>
                <a:cs typeface="Nunito" pitchFamily="34" charset="-120"/>
              </a:rPr>
              <a:t>Actualizar distancias con Lance–Williams</a:t>
            </a:r>
            <a:endParaRPr lang="en-US" sz="2200" dirty="0"/>
          </a:p>
        </p:txBody>
      </p:sp>
      <p:sp>
        <p:nvSpPr>
          <p:cNvPr id="12" name="Shape 9"/>
          <p:cNvSpPr/>
          <p:nvPr/>
        </p:nvSpPr>
        <p:spPr>
          <a:xfrm>
            <a:off x="10229850" y="4102100"/>
            <a:ext cx="0" cy="469900"/>
          </a:xfrm>
          <a:prstGeom prst="line">
            <a:avLst/>
          </a:prstGeom>
          <a:noFill/>
          <a:ln w="25400">
            <a:solidFill>
              <a:srgbClr val="E03131"/>
            </a:solidFill>
            <a:prstDash val="dash"/>
          </a:ln>
        </p:spPr>
      </p:sp>
      <p:sp>
        <p:nvSpPr>
          <p:cNvPr id="13" name="Shape 10"/>
          <p:cNvSpPr/>
          <p:nvPr/>
        </p:nvSpPr>
        <p:spPr>
          <a:xfrm>
            <a:off x="4718050" y="4572000"/>
            <a:ext cx="5511800" cy="0"/>
          </a:xfrm>
          <a:prstGeom prst="line">
            <a:avLst/>
          </a:prstGeom>
          <a:noFill/>
          <a:ln w="25400">
            <a:solidFill>
              <a:srgbClr val="E03131"/>
            </a:solidFill>
            <a:prstDash val="dash"/>
          </a:ln>
        </p:spPr>
      </p:sp>
      <p:sp>
        <p:nvSpPr>
          <p:cNvPr id="14" name="Shape 11"/>
          <p:cNvSpPr/>
          <p:nvPr/>
        </p:nvSpPr>
        <p:spPr>
          <a:xfrm>
            <a:off x="4718050" y="4114800"/>
            <a:ext cx="0" cy="457200"/>
          </a:xfrm>
          <a:prstGeom prst="line">
            <a:avLst/>
          </a:prstGeom>
          <a:noFill/>
          <a:ln w="25400">
            <a:solidFill>
              <a:srgbClr val="E03131"/>
            </a:solidFill>
            <a:prstDash val="dash"/>
            <a:headEnd type="triangle"/>
          </a:ln>
        </p:spPr>
      </p:sp>
      <p:sp>
        <p:nvSpPr>
          <p:cNvPr id="15" name="Text 12"/>
          <p:cNvSpPr txBox="1"/>
          <p:nvPr/>
        </p:nvSpPr>
        <p:spPr>
          <a:xfrm>
            <a:off x="5568950" y="4648200"/>
            <a:ext cx="3810000" cy="355600"/>
          </a:xfrm>
          <a:prstGeom prst="rect">
            <a:avLst/>
          </a:prstGeom>
          <a:noFill/>
          <a:ln/>
        </p:spPr>
        <p:txBody>
          <a:bodyPr wrap="square" lIns="0" tIns="0" rIns="0" bIns="0" rtlCol="0" anchor="t"/>
          <a:lstStyle/>
          <a:p>
            <a:pPr algn="ctr" indent="0" marL="0">
              <a:lnSpc>
                <a:spcPct val="100000"/>
              </a:lnSpc>
              <a:buNone/>
            </a:pPr>
            <a:r>
              <a:rPr lang="en-US" sz="1800" dirty="0">
                <a:solidFill>
                  <a:srgbClr val="E03131"/>
                </a:solidFill>
                <a:latin typeface="Kalam" pitchFamily="34" charset="0"/>
                <a:ea typeface="Kalam" pitchFamily="34" charset="-122"/>
                <a:cs typeface="Kalam" pitchFamily="34" charset="-120"/>
              </a:rPr>
              <a:t>se repite n − 1 veces</a:t>
            </a:r>
            <a:endParaRPr lang="en-US" sz="1800" dirty="0"/>
          </a:p>
        </p:txBody>
      </p:sp>
      <p:sp>
        <p:nvSpPr>
          <p:cNvPr id="16" name="Text 13"/>
          <p:cNvSpPr txBox="1"/>
          <p:nvPr/>
        </p:nvSpPr>
        <p:spPr>
          <a:xfrm>
            <a:off x="812800" y="5308600"/>
            <a:ext cx="10566400" cy="279400"/>
          </a:xfrm>
          <a:prstGeom prst="rect">
            <a:avLst/>
          </a:prstGeom>
          <a:noFill/>
          <a:ln/>
        </p:spPr>
        <p:txBody>
          <a:bodyPr wrap="square" lIns="0" tIns="0" rIns="0" bIns="0" rtlCol="0" anchor="t"/>
          <a:lstStyle/>
          <a:p>
            <a:pPr algn="l" indent="0" marL="0">
              <a:lnSpc>
                <a:spcPct val="100000"/>
              </a:lnSpc>
              <a:buNone/>
            </a:pPr>
            <a:r>
              <a:rPr lang="en-US" sz="1400" dirty="0">
                <a:solidFill>
                  <a:srgbClr val="495057"/>
                </a:solidFill>
                <a:latin typeface="Nunito" pitchFamily="34" charset="0"/>
                <a:ea typeface="Nunito" pitchFamily="34" charset="-122"/>
                <a:cs typeface="Nunito" pitchFamily="34" charset="-120"/>
              </a:rPr>
              <a:t>Pseudocódigo completo: </a:t>
            </a:r>
            <a:pPr algn="l" indent="0" marL="0">
              <a:lnSpc>
                <a:spcPct val="100000"/>
              </a:lnSpc>
              <a:buNone/>
            </a:pPr>
            <a:r>
              <a:rPr lang="en-US" sz="1400" u="sng" dirty="0">
                <a:solidFill>
                  <a:srgbClr val="1971C2"/>
                </a:solidFill>
                <a:latin typeface="Nunito" pitchFamily="34" charset="0"/>
                <a:ea typeface="Nunito" pitchFamily="34" charset="-122"/>
                <a:cs typeface="Nuni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docs/pseudocodigo.md</a:t>
            </a:r>
            <a:pPr algn="l" indent="0" marL="0">
              <a:lnSpc>
                <a:spcPct val="100000"/>
              </a:lnSpc>
              <a:buNone/>
            </a:pPr>
            <a:r>
              <a:rPr lang="en-US" sz="1400" dirty="0">
                <a:solidFill>
                  <a:srgbClr val="495057"/>
                </a:solidFill>
                <a:latin typeface="Nunito" pitchFamily="34" charset="0"/>
                <a:ea typeface="Nunito" pitchFamily="34" charset="-122"/>
                <a:cs typeface="Nunito" pitchFamily="34" charset="-120"/>
              </a:rPr>
              <a:t> · diagrama 1 en </a:t>
            </a:r>
            <a:pPr algn="l" indent="0" marL="0">
              <a:lnSpc>
                <a:spcPct val="100000"/>
              </a:lnSpc>
              <a:buNone/>
            </a:pPr>
            <a:r>
              <a:rPr lang="en-US" sz="1400" u="sng" dirty="0">
                <a:solidFill>
                  <a:srgbClr val="1971C2"/>
                </a:solidFill>
                <a:latin typeface="Nunito" pitchFamily="34" charset="0"/>
                <a:ea typeface="Nunito" pitchFamily="34" charset="-122"/>
                <a:cs typeface="Nun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docs/diagramas.md</a:t>
            </a:r>
            <a:endParaRPr lang="en-US" sz="1400" dirty="0"/>
          </a:p>
        </p:txBody>
      </p:sp>
      <p:sp>
        <p:nvSpPr>
          <p:cNvPr id="17" name="Text 14"/>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6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7"/>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Cuatro criterios de enlace</a:t>
            </a:r>
            <a:endParaRPr lang="en-US" sz="3800" dirty="0"/>
          </a:p>
        </p:txBody>
      </p:sp>
      <p:sp>
        <p:nvSpPr>
          <p:cNvPr id="4" name="Shape 1"/>
          <p:cNvSpPr/>
          <p:nvPr/>
        </p:nvSpPr>
        <p:spPr>
          <a:xfrm rot="-36000">
            <a:off x="812800" y="1625600"/>
            <a:ext cx="2489200" cy="3238500"/>
          </a:xfrm>
          <a:prstGeom prst="roundRect">
            <a:avLst>
              <a:gd name="adj" fmla="val 4082"/>
            </a:avLst>
          </a:prstGeom>
          <a:solidFill>
            <a:srgbClr val="FFFFFF"/>
          </a:solidFill>
          <a:ln w="28575">
            <a:solidFill>
              <a:srgbClr val="1E1E1E"/>
            </a:solidFill>
            <a:prstDash val="solid"/>
          </a:ln>
        </p:spPr>
      </p:sp>
      <p:pic>
        <p:nvPicPr>
          <p:cNvPr id="5" name="Image 0" descr="Criterio Single">    </p:cNvPr>
          <p:cNvPicPr>
            <a:picLocks noChangeAspect="1"/>
          </p:cNvPicPr>
          <p:nvPr/>
        </p:nvPicPr>
        <p:blipFill>
          <a:blip r:embed="rId1"/>
          <a:stretch>
            <a:fillRect/>
          </a:stretch>
        </p:blipFill>
        <p:spPr>
          <a:xfrm>
            <a:off x="977900" y="1790700"/>
            <a:ext cx="2159000" cy="1270000"/>
          </a:xfrm>
          <a:prstGeom prst="rect">
            <a:avLst/>
          </a:prstGeom>
        </p:spPr>
      </p:pic>
      <p:sp>
        <p:nvSpPr>
          <p:cNvPr id="6" name="Text 2"/>
          <p:cNvSpPr txBox="1"/>
          <p:nvPr/>
        </p:nvSpPr>
        <p:spPr>
          <a:xfrm>
            <a:off x="977900" y="3175000"/>
            <a:ext cx="2159000" cy="406400"/>
          </a:xfrm>
          <a:prstGeom prst="rect">
            <a:avLst/>
          </a:prstGeom>
          <a:noFill/>
          <a:ln/>
        </p:spPr>
        <p:txBody>
          <a:bodyPr wrap="square" lIns="0" tIns="0" rIns="0" bIns="0" rtlCol="0" anchor="t"/>
          <a:lstStyle/>
          <a:p>
            <a:pPr algn="l" indent="0" marL="0">
              <a:lnSpc>
                <a:spcPct val="100000"/>
              </a:lnSpc>
              <a:buNone/>
            </a:pPr>
            <a:r>
              <a:rPr lang="en-US" sz="2200" b="1" dirty="0">
                <a:solidFill>
                  <a:srgbClr val="1E1E1E"/>
                </a:solidFill>
                <a:latin typeface="Kalam" pitchFamily="34" charset="0"/>
                <a:ea typeface="Kalam" pitchFamily="34" charset="-122"/>
                <a:cs typeface="Kalam" pitchFamily="34" charset="-120"/>
              </a:rPr>
              <a:t>Single</a:t>
            </a:r>
            <a:endParaRPr lang="en-US" sz="2200" dirty="0"/>
          </a:p>
        </p:txBody>
      </p:sp>
      <p:sp>
        <p:nvSpPr>
          <p:cNvPr id="7" name="Text 3"/>
          <p:cNvSpPr txBox="1"/>
          <p:nvPr/>
        </p:nvSpPr>
        <p:spPr>
          <a:xfrm>
            <a:off x="977900" y="3657600"/>
            <a:ext cx="2159000" cy="508000"/>
          </a:xfrm>
          <a:prstGeom prst="rect">
            <a:avLst/>
          </a:prstGeom>
          <a:noFill/>
          <a:ln/>
        </p:spPr>
        <p:txBody>
          <a:bodyPr wrap="square" lIns="0" tIns="0" rIns="0" bIns="0" rtlCol="0" anchor="t"/>
          <a:lstStyle/>
          <a:p>
            <a:pPr algn="l" indent="0" marL="0">
              <a:lnSpc>
                <a:spcPct val="110000"/>
              </a:lnSpc>
              <a:buNone/>
            </a:pPr>
            <a:r>
              <a:rPr lang="en-US" sz="1300" dirty="0">
                <a:solidFill>
                  <a:srgbClr val="1E1E1E"/>
                </a:solidFill>
                <a:latin typeface="Nunito" pitchFamily="34" charset="0"/>
                <a:ea typeface="Nunito" pitchFamily="34" charset="-122"/>
                <a:cs typeface="Nunito" pitchFamily="34" charset="-120"/>
              </a:rPr>
              <a:t>El par </a:t>
            </a:r>
            <a:pPr algn="l" indent="0" marL="0">
              <a:lnSpc>
                <a:spcPct val="110000"/>
              </a:lnSpc>
              <a:buNone/>
            </a:pPr>
            <a:r>
              <a:rPr lang="en-US" sz="1300" b="1" dirty="0">
                <a:solidFill>
                  <a:srgbClr val="1E1E1E"/>
                </a:solidFill>
                <a:latin typeface="Nunito" pitchFamily="34" charset="0"/>
                <a:ea typeface="Nunito" pitchFamily="34" charset="-122"/>
                <a:cs typeface="Nunito" pitchFamily="34" charset="-120"/>
              </a:rPr>
              <a:t>más cercano</a:t>
            </a:r>
            <a:pPr algn="l" indent="0" marL="0">
              <a:lnSpc>
                <a:spcPct val="110000"/>
              </a:lnSpc>
              <a:buNone/>
            </a:pPr>
            <a:r>
              <a:rPr lang="en-US" sz="1300" dirty="0">
                <a:solidFill>
                  <a:srgbClr val="1E1E1E"/>
                </a:solidFill>
                <a:latin typeface="Nunito" pitchFamily="34" charset="0"/>
                <a:ea typeface="Nunito" pitchFamily="34" charset="-122"/>
                <a:cs typeface="Nunito" pitchFamily="34" charset="-120"/>
              </a:rPr>
              <a:t>.</a:t>
            </a:r>
            <a:endParaRPr lang="en-US" sz="1300" dirty="0"/>
          </a:p>
        </p:txBody>
      </p:sp>
      <p:sp>
        <p:nvSpPr>
          <p:cNvPr id="8" name="Text 4"/>
          <p:cNvSpPr txBox="1"/>
          <p:nvPr/>
        </p:nvSpPr>
        <p:spPr>
          <a:xfrm>
            <a:off x="977900" y="4191000"/>
            <a:ext cx="2159000" cy="571500"/>
          </a:xfrm>
          <a:prstGeom prst="rect">
            <a:avLst/>
          </a:prstGeom>
          <a:noFill/>
          <a:ln/>
        </p:spPr>
        <p:txBody>
          <a:bodyPr wrap="square" lIns="0" tIns="0" rIns="0" bIns="0" rtlCol="0" anchor="t"/>
          <a:lstStyle/>
          <a:p>
            <a:pPr algn="l" indent="0" marL="0">
              <a:lnSpc>
                <a:spcPct val="110000"/>
              </a:lnSpc>
              <a:buNone/>
            </a:pPr>
            <a:r>
              <a:rPr lang="en-US" sz="1200" dirty="0">
                <a:solidFill>
                  <a:srgbClr val="495057"/>
                </a:solidFill>
                <a:latin typeface="Nunito" pitchFamily="34" charset="0"/>
                <a:ea typeface="Nunito" pitchFamily="34" charset="-122"/>
                <a:cs typeface="Nunito" pitchFamily="34" charset="-120"/>
              </a:rPr>
              <a:t>Sigue formas alargadas. Riesgo: efecto cadena.</a:t>
            </a:r>
            <a:endParaRPr lang="en-US" sz="1200" dirty="0"/>
          </a:p>
        </p:txBody>
      </p:sp>
      <p:sp>
        <p:nvSpPr>
          <p:cNvPr id="9" name="Shape 5"/>
          <p:cNvSpPr/>
          <p:nvPr/>
        </p:nvSpPr>
        <p:spPr>
          <a:xfrm rot="30000">
            <a:off x="3505200" y="1625600"/>
            <a:ext cx="2489200" cy="3238500"/>
          </a:xfrm>
          <a:prstGeom prst="roundRect">
            <a:avLst>
              <a:gd name="adj" fmla="val 4082"/>
            </a:avLst>
          </a:prstGeom>
          <a:solidFill>
            <a:srgbClr val="FFFFFF"/>
          </a:solidFill>
          <a:ln w="28575">
            <a:solidFill>
              <a:srgbClr val="1E1E1E"/>
            </a:solidFill>
            <a:prstDash val="solid"/>
          </a:ln>
        </p:spPr>
      </p:sp>
      <p:pic>
        <p:nvPicPr>
          <p:cNvPr id="10" name="Image 1" descr="Criterio Complete">    </p:cNvPr>
          <p:cNvPicPr>
            <a:picLocks noChangeAspect="1"/>
          </p:cNvPicPr>
          <p:nvPr/>
        </p:nvPicPr>
        <p:blipFill>
          <a:blip r:embed="rId2"/>
          <a:stretch>
            <a:fillRect/>
          </a:stretch>
        </p:blipFill>
        <p:spPr>
          <a:xfrm>
            <a:off x="3670300" y="1790700"/>
            <a:ext cx="2159000" cy="1270000"/>
          </a:xfrm>
          <a:prstGeom prst="rect">
            <a:avLst/>
          </a:prstGeom>
        </p:spPr>
      </p:pic>
      <p:sp>
        <p:nvSpPr>
          <p:cNvPr id="11" name="Text 6"/>
          <p:cNvSpPr txBox="1"/>
          <p:nvPr/>
        </p:nvSpPr>
        <p:spPr>
          <a:xfrm>
            <a:off x="3670300" y="3175000"/>
            <a:ext cx="2159000" cy="406400"/>
          </a:xfrm>
          <a:prstGeom prst="rect">
            <a:avLst/>
          </a:prstGeom>
          <a:noFill/>
          <a:ln/>
        </p:spPr>
        <p:txBody>
          <a:bodyPr wrap="square" lIns="0" tIns="0" rIns="0" bIns="0" rtlCol="0" anchor="t"/>
          <a:lstStyle/>
          <a:p>
            <a:pPr algn="l" indent="0" marL="0">
              <a:lnSpc>
                <a:spcPct val="100000"/>
              </a:lnSpc>
              <a:buNone/>
            </a:pPr>
            <a:r>
              <a:rPr lang="en-US" sz="2200" b="1" dirty="0">
                <a:solidFill>
                  <a:srgbClr val="1E1E1E"/>
                </a:solidFill>
                <a:latin typeface="Kalam" pitchFamily="34" charset="0"/>
                <a:ea typeface="Kalam" pitchFamily="34" charset="-122"/>
                <a:cs typeface="Kalam" pitchFamily="34" charset="-120"/>
              </a:rPr>
              <a:t>Complete</a:t>
            </a:r>
            <a:endParaRPr lang="en-US" sz="2200" dirty="0"/>
          </a:p>
        </p:txBody>
      </p:sp>
      <p:sp>
        <p:nvSpPr>
          <p:cNvPr id="12" name="Text 7"/>
          <p:cNvSpPr txBox="1"/>
          <p:nvPr/>
        </p:nvSpPr>
        <p:spPr>
          <a:xfrm>
            <a:off x="3670300" y="3657600"/>
            <a:ext cx="2159000" cy="508000"/>
          </a:xfrm>
          <a:prstGeom prst="rect">
            <a:avLst/>
          </a:prstGeom>
          <a:noFill/>
          <a:ln/>
        </p:spPr>
        <p:txBody>
          <a:bodyPr wrap="square" lIns="0" tIns="0" rIns="0" bIns="0" rtlCol="0" anchor="t"/>
          <a:lstStyle/>
          <a:p>
            <a:pPr algn="l" indent="0" marL="0">
              <a:lnSpc>
                <a:spcPct val="110000"/>
              </a:lnSpc>
              <a:buNone/>
            </a:pPr>
            <a:r>
              <a:rPr lang="en-US" sz="1300" dirty="0">
                <a:solidFill>
                  <a:srgbClr val="1E1E1E"/>
                </a:solidFill>
                <a:latin typeface="Nunito" pitchFamily="34" charset="0"/>
                <a:ea typeface="Nunito" pitchFamily="34" charset="-122"/>
                <a:cs typeface="Nunito" pitchFamily="34" charset="-120"/>
              </a:rPr>
              <a:t>El par </a:t>
            </a:r>
            <a:pPr algn="l" indent="0" marL="0">
              <a:lnSpc>
                <a:spcPct val="110000"/>
              </a:lnSpc>
              <a:buNone/>
            </a:pPr>
            <a:r>
              <a:rPr lang="en-US" sz="1300" b="1" dirty="0">
                <a:solidFill>
                  <a:srgbClr val="1E1E1E"/>
                </a:solidFill>
                <a:latin typeface="Nunito" pitchFamily="34" charset="0"/>
                <a:ea typeface="Nunito" pitchFamily="34" charset="-122"/>
                <a:cs typeface="Nunito" pitchFamily="34" charset="-120"/>
              </a:rPr>
              <a:t>más lejano</a:t>
            </a:r>
            <a:pPr algn="l" indent="0" marL="0">
              <a:lnSpc>
                <a:spcPct val="110000"/>
              </a:lnSpc>
              <a:buNone/>
            </a:pPr>
            <a:r>
              <a:rPr lang="en-US" sz="1300" dirty="0">
                <a:solidFill>
                  <a:srgbClr val="1E1E1E"/>
                </a:solidFill>
                <a:latin typeface="Nunito" pitchFamily="34" charset="0"/>
                <a:ea typeface="Nunito" pitchFamily="34" charset="-122"/>
                <a:cs typeface="Nunito" pitchFamily="34" charset="-120"/>
              </a:rPr>
              <a:t>.</a:t>
            </a:r>
            <a:endParaRPr lang="en-US" sz="1300" dirty="0"/>
          </a:p>
        </p:txBody>
      </p:sp>
      <p:sp>
        <p:nvSpPr>
          <p:cNvPr id="13" name="Text 8"/>
          <p:cNvSpPr txBox="1"/>
          <p:nvPr/>
        </p:nvSpPr>
        <p:spPr>
          <a:xfrm>
            <a:off x="3670300" y="4191000"/>
            <a:ext cx="2159000" cy="571500"/>
          </a:xfrm>
          <a:prstGeom prst="rect">
            <a:avLst/>
          </a:prstGeom>
          <a:noFill/>
          <a:ln/>
        </p:spPr>
        <p:txBody>
          <a:bodyPr wrap="square" lIns="0" tIns="0" rIns="0" bIns="0" rtlCol="0" anchor="t"/>
          <a:lstStyle/>
          <a:p>
            <a:pPr algn="l" indent="0" marL="0">
              <a:lnSpc>
                <a:spcPct val="110000"/>
              </a:lnSpc>
              <a:buNone/>
            </a:pPr>
            <a:r>
              <a:rPr lang="en-US" sz="1200" dirty="0">
                <a:solidFill>
                  <a:srgbClr val="495057"/>
                </a:solidFill>
                <a:latin typeface="Nunito" pitchFamily="34" charset="0"/>
                <a:ea typeface="Nunito" pitchFamily="34" charset="-122"/>
                <a:cs typeface="Nunito" pitchFamily="34" charset="-120"/>
              </a:rPr>
              <a:t>Grupos compactos. Riesgo: outliers.</a:t>
            </a:r>
            <a:endParaRPr lang="en-US" sz="1200" dirty="0"/>
          </a:p>
        </p:txBody>
      </p:sp>
      <p:sp>
        <p:nvSpPr>
          <p:cNvPr id="14" name="Shape 9"/>
          <p:cNvSpPr/>
          <p:nvPr/>
        </p:nvSpPr>
        <p:spPr>
          <a:xfrm rot="-24000">
            <a:off x="6197600" y="1625600"/>
            <a:ext cx="2489200" cy="3238500"/>
          </a:xfrm>
          <a:prstGeom prst="roundRect">
            <a:avLst>
              <a:gd name="adj" fmla="val 4082"/>
            </a:avLst>
          </a:prstGeom>
          <a:solidFill>
            <a:srgbClr val="FFFFFF"/>
          </a:solidFill>
          <a:ln w="28575">
            <a:solidFill>
              <a:srgbClr val="1E1E1E"/>
            </a:solidFill>
            <a:prstDash val="solid"/>
          </a:ln>
        </p:spPr>
      </p:sp>
      <p:pic>
        <p:nvPicPr>
          <p:cNvPr id="15" name="Image 2" descr="Criterio Average">    </p:cNvPr>
          <p:cNvPicPr>
            <a:picLocks noChangeAspect="1"/>
          </p:cNvPicPr>
          <p:nvPr/>
        </p:nvPicPr>
        <p:blipFill>
          <a:blip r:embed="rId3"/>
          <a:stretch>
            <a:fillRect/>
          </a:stretch>
        </p:blipFill>
        <p:spPr>
          <a:xfrm>
            <a:off x="6362700" y="1790700"/>
            <a:ext cx="2159000" cy="1270000"/>
          </a:xfrm>
          <a:prstGeom prst="rect">
            <a:avLst/>
          </a:prstGeom>
        </p:spPr>
      </p:pic>
      <p:sp>
        <p:nvSpPr>
          <p:cNvPr id="16" name="Text 10"/>
          <p:cNvSpPr txBox="1"/>
          <p:nvPr/>
        </p:nvSpPr>
        <p:spPr>
          <a:xfrm>
            <a:off x="6362700" y="3175000"/>
            <a:ext cx="2159000" cy="406400"/>
          </a:xfrm>
          <a:prstGeom prst="rect">
            <a:avLst/>
          </a:prstGeom>
          <a:noFill/>
          <a:ln/>
        </p:spPr>
        <p:txBody>
          <a:bodyPr wrap="square" lIns="0" tIns="0" rIns="0" bIns="0" rtlCol="0" anchor="t"/>
          <a:lstStyle/>
          <a:p>
            <a:pPr algn="l" indent="0" marL="0">
              <a:lnSpc>
                <a:spcPct val="100000"/>
              </a:lnSpc>
              <a:buNone/>
            </a:pPr>
            <a:r>
              <a:rPr lang="en-US" sz="2200" b="1" dirty="0">
                <a:solidFill>
                  <a:srgbClr val="1E1E1E"/>
                </a:solidFill>
                <a:latin typeface="Kalam" pitchFamily="34" charset="0"/>
                <a:ea typeface="Kalam" pitchFamily="34" charset="-122"/>
                <a:cs typeface="Kalam" pitchFamily="34" charset="-120"/>
              </a:rPr>
              <a:t>Average</a:t>
            </a:r>
            <a:endParaRPr lang="en-US" sz="2200" dirty="0"/>
          </a:p>
        </p:txBody>
      </p:sp>
      <p:sp>
        <p:nvSpPr>
          <p:cNvPr id="17" name="Text 11"/>
          <p:cNvSpPr txBox="1"/>
          <p:nvPr/>
        </p:nvSpPr>
        <p:spPr>
          <a:xfrm>
            <a:off x="6362700" y="3657600"/>
            <a:ext cx="2159000" cy="508000"/>
          </a:xfrm>
          <a:prstGeom prst="rect">
            <a:avLst/>
          </a:prstGeom>
          <a:noFill/>
          <a:ln/>
        </p:spPr>
        <p:txBody>
          <a:bodyPr wrap="square" lIns="0" tIns="0" rIns="0" bIns="0" rtlCol="0" anchor="t"/>
          <a:lstStyle/>
          <a:p>
            <a:pPr algn="l" indent="0" marL="0">
              <a:lnSpc>
                <a:spcPct val="110000"/>
              </a:lnSpc>
              <a:buNone/>
            </a:pPr>
            <a:r>
              <a:rPr lang="en-US" sz="1300" dirty="0">
                <a:solidFill>
                  <a:srgbClr val="1E1E1E"/>
                </a:solidFill>
                <a:latin typeface="Nunito" pitchFamily="34" charset="0"/>
                <a:ea typeface="Nunito" pitchFamily="34" charset="-122"/>
                <a:cs typeface="Nunito" pitchFamily="34" charset="-120"/>
              </a:rPr>
              <a:t>El </a:t>
            </a:r>
            <a:pPr algn="l" indent="0" marL="0">
              <a:lnSpc>
                <a:spcPct val="110000"/>
              </a:lnSpc>
              <a:buNone/>
            </a:pPr>
            <a:r>
              <a:rPr lang="en-US" sz="1300" b="1" dirty="0">
                <a:solidFill>
                  <a:srgbClr val="1E1E1E"/>
                </a:solidFill>
                <a:latin typeface="Nunito" pitchFamily="34" charset="0"/>
                <a:ea typeface="Nunito" pitchFamily="34" charset="-122"/>
                <a:cs typeface="Nunito" pitchFamily="34" charset="-120"/>
              </a:rPr>
              <a:t>promedio</a:t>
            </a:r>
            <a:pPr algn="l" indent="0" marL="0">
              <a:lnSpc>
                <a:spcPct val="110000"/>
              </a:lnSpc>
              <a:buNone/>
            </a:pPr>
            <a:r>
              <a:rPr lang="en-US" sz="1300" dirty="0">
                <a:solidFill>
                  <a:srgbClr val="1E1E1E"/>
                </a:solidFill>
                <a:latin typeface="Nunito" pitchFamily="34" charset="0"/>
                <a:ea typeface="Nunito" pitchFamily="34" charset="-122"/>
                <a:cs typeface="Nunito" pitchFamily="34" charset="-120"/>
              </a:rPr>
              <a:t> de todas las parejas.</a:t>
            </a:r>
            <a:endParaRPr lang="en-US" sz="1300" dirty="0"/>
          </a:p>
        </p:txBody>
      </p:sp>
      <p:sp>
        <p:nvSpPr>
          <p:cNvPr id="18" name="Text 12"/>
          <p:cNvSpPr txBox="1"/>
          <p:nvPr/>
        </p:nvSpPr>
        <p:spPr>
          <a:xfrm>
            <a:off x="6362700" y="4191000"/>
            <a:ext cx="2159000" cy="571500"/>
          </a:xfrm>
          <a:prstGeom prst="rect">
            <a:avLst/>
          </a:prstGeom>
          <a:noFill/>
          <a:ln/>
        </p:spPr>
        <p:txBody>
          <a:bodyPr wrap="square" lIns="0" tIns="0" rIns="0" bIns="0" rtlCol="0" anchor="t"/>
          <a:lstStyle/>
          <a:p>
            <a:pPr algn="l" indent="0" marL="0">
              <a:lnSpc>
                <a:spcPct val="110000"/>
              </a:lnSpc>
              <a:buNone/>
            </a:pPr>
            <a:r>
              <a:rPr lang="en-US" sz="1200" dirty="0">
                <a:solidFill>
                  <a:srgbClr val="495057"/>
                </a:solidFill>
                <a:latin typeface="Nunito" pitchFamily="34" charset="0"/>
                <a:ea typeface="Nunito" pitchFamily="34" charset="-122"/>
                <a:cs typeface="Nunito" pitchFamily="34" charset="-120"/>
              </a:rPr>
              <a:t>Término medio, más robusto al ruido.</a:t>
            </a:r>
            <a:endParaRPr lang="en-US" sz="1200" dirty="0"/>
          </a:p>
        </p:txBody>
      </p:sp>
      <p:sp>
        <p:nvSpPr>
          <p:cNvPr id="19" name="Shape 13"/>
          <p:cNvSpPr/>
          <p:nvPr/>
        </p:nvSpPr>
        <p:spPr>
          <a:xfrm rot="36000">
            <a:off x="8890000" y="1625600"/>
            <a:ext cx="2489200" cy="3238500"/>
          </a:xfrm>
          <a:prstGeom prst="roundRect">
            <a:avLst>
              <a:gd name="adj" fmla="val 4082"/>
            </a:avLst>
          </a:prstGeom>
          <a:solidFill>
            <a:srgbClr val="FFFFFF"/>
          </a:solidFill>
          <a:ln w="28575">
            <a:solidFill>
              <a:srgbClr val="1E1E1E"/>
            </a:solidFill>
            <a:prstDash val="solid"/>
          </a:ln>
        </p:spPr>
      </p:sp>
      <p:pic>
        <p:nvPicPr>
          <p:cNvPr id="20" name="Image 3" descr="Criterio Ward">    </p:cNvPr>
          <p:cNvPicPr>
            <a:picLocks noChangeAspect="1"/>
          </p:cNvPicPr>
          <p:nvPr/>
        </p:nvPicPr>
        <p:blipFill>
          <a:blip r:embed="rId4"/>
          <a:stretch>
            <a:fillRect/>
          </a:stretch>
        </p:blipFill>
        <p:spPr>
          <a:xfrm>
            <a:off x="9055100" y="1790700"/>
            <a:ext cx="2159000" cy="1270000"/>
          </a:xfrm>
          <a:prstGeom prst="rect">
            <a:avLst/>
          </a:prstGeom>
        </p:spPr>
      </p:pic>
      <p:sp>
        <p:nvSpPr>
          <p:cNvPr id="21" name="Text 14"/>
          <p:cNvSpPr txBox="1"/>
          <p:nvPr/>
        </p:nvSpPr>
        <p:spPr>
          <a:xfrm>
            <a:off x="9055100" y="3175000"/>
            <a:ext cx="2159000" cy="406400"/>
          </a:xfrm>
          <a:prstGeom prst="rect">
            <a:avLst/>
          </a:prstGeom>
          <a:noFill/>
          <a:ln/>
        </p:spPr>
        <p:txBody>
          <a:bodyPr wrap="square" lIns="0" tIns="0" rIns="0" bIns="0" rtlCol="0" anchor="t"/>
          <a:lstStyle/>
          <a:p>
            <a:pPr algn="l" indent="0" marL="0">
              <a:lnSpc>
                <a:spcPct val="100000"/>
              </a:lnSpc>
              <a:buNone/>
            </a:pPr>
            <a:r>
              <a:rPr lang="en-US" sz="2200" b="1" dirty="0">
                <a:solidFill>
                  <a:srgbClr val="1E1E1E"/>
                </a:solidFill>
                <a:latin typeface="Kalam" pitchFamily="34" charset="0"/>
                <a:ea typeface="Kalam" pitchFamily="34" charset="-122"/>
                <a:cs typeface="Kalam" pitchFamily="34" charset="-120"/>
              </a:rPr>
              <a:t>Ward</a:t>
            </a:r>
            <a:endParaRPr lang="en-US" sz="2200" dirty="0"/>
          </a:p>
        </p:txBody>
      </p:sp>
      <p:sp>
        <p:nvSpPr>
          <p:cNvPr id="22" name="Text 15"/>
          <p:cNvSpPr txBox="1"/>
          <p:nvPr/>
        </p:nvSpPr>
        <p:spPr>
          <a:xfrm>
            <a:off x="9055100" y="3657600"/>
            <a:ext cx="2159000" cy="508000"/>
          </a:xfrm>
          <a:prstGeom prst="rect">
            <a:avLst/>
          </a:prstGeom>
          <a:noFill/>
          <a:ln/>
        </p:spPr>
        <p:txBody>
          <a:bodyPr wrap="square" lIns="0" tIns="0" rIns="0" bIns="0" rtlCol="0" anchor="t"/>
          <a:lstStyle/>
          <a:p>
            <a:pPr algn="l" indent="0" marL="0">
              <a:lnSpc>
                <a:spcPct val="110000"/>
              </a:lnSpc>
              <a:buNone/>
            </a:pPr>
            <a:r>
              <a:rPr lang="en-US" sz="1300" dirty="0">
                <a:solidFill>
                  <a:srgbClr val="1E1E1E"/>
                </a:solidFill>
                <a:latin typeface="Nunito" pitchFamily="34" charset="0"/>
                <a:ea typeface="Nunito" pitchFamily="34" charset="-122"/>
                <a:cs typeface="Nunito" pitchFamily="34" charset="-120"/>
              </a:rPr>
              <a:t>El menor </a:t>
            </a:r>
            <a:pPr algn="l" indent="0" marL="0">
              <a:lnSpc>
                <a:spcPct val="110000"/>
              </a:lnSpc>
              <a:buNone/>
            </a:pPr>
            <a:r>
              <a:rPr lang="en-US" sz="1300" b="1" dirty="0">
                <a:solidFill>
                  <a:srgbClr val="1E1E1E"/>
                </a:solidFill>
                <a:latin typeface="Nunito" pitchFamily="34" charset="0"/>
                <a:ea typeface="Nunito" pitchFamily="34" charset="-122"/>
                <a:cs typeface="Nunito" pitchFamily="34" charset="-120"/>
              </a:rPr>
              <a:t>aumento de varianza</a:t>
            </a:r>
            <a:pPr algn="l" indent="0" marL="0">
              <a:lnSpc>
                <a:spcPct val="110000"/>
              </a:lnSpc>
              <a:buNone/>
            </a:pPr>
            <a:r>
              <a:rPr lang="en-US" sz="1300" dirty="0">
                <a:solidFill>
                  <a:srgbClr val="1E1E1E"/>
                </a:solidFill>
                <a:latin typeface="Nunito" pitchFamily="34" charset="0"/>
                <a:ea typeface="Nunito" pitchFamily="34" charset="-122"/>
                <a:cs typeface="Nunito" pitchFamily="34" charset="-120"/>
              </a:rPr>
              <a:t>.</a:t>
            </a:r>
            <a:endParaRPr lang="en-US" sz="1300" dirty="0"/>
          </a:p>
        </p:txBody>
      </p:sp>
      <p:sp>
        <p:nvSpPr>
          <p:cNvPr id="23" name="Text 16"/>
          <p:cNvSpPr txBox="1"/>
          <p:nvPr/>
        </p:nvSpPr>
        <p:spPr>
          <a:xfrm>
            <a:off x="9055100" y="4191000"/>
            <a:ext cx="2159000" cy="571500"/>
          </a:xfrm>
          <a:prstGeom prst="rect">
            <a:avLst/>
          </a:prstGeom>
          <a:noFill/>
          <a:ln/>
        </p:spPr>
        <p:txBody>
          <a:bodyPr wrap="square" lIns="0" tIns="0" rIns="0" bIns="0" rtlCol="0" anchor="t"/>
          <a:lstStyle/>
          <a:p>
            <a:pPr algn="l" indent="0" marL="0">
              <a:lnSpc>
                <a:spcPct val="110000"/>
              </a:lnSpc>
              <a:buNone/>
            </a:pPr>
            <a:r>
              <a:rPr lang="en-US" sz="1200" dirty="0">
                <a:solidFill>
                  <a:srgbClr val="495057"/>
                </a:solidFill>
                <a:latin typeface="Nunito" pitchFamily="34" charset="0"/>
                <a:ea typeface="Nunito" pitchFamily="34" charset="-122"/>
                <a:cs typeface="Nunito" pitchFamily="34" charset="-120"/>
              </a:rPr>
              <a:t>Grupos esféricos. Solo euclidiana.</a:t>
            </a:r>
            <a:endParaRPr lang="en-US" sz="1200" dirty="0"/>
          </a:p>
        </p:txBody>
      </p:sp>
      <p:sp>
        <p:nvSpPr>
          <p:cNvPr id="24" name="Text 17"/>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7 / 17</a:t>
            </a:r>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 · fórmulas en </a:t>
            </a:r>
            <a:pPr algn="l" indent="0" marL="0">
              <a:lnSpc>
                <a:spcPct val="100000"/>
              </a:lnSpc>
              <a:buNone/>
            </a:pPr>
            <a:r>
              <a:rPr lang="en-US" sz="1200" u="sng" dirty="0">
                <a:solidFill>
                  <a:srgbClr val="1971C2"/>
                </a:solidFill>
                <a:latin typeface="Nunito" pitchFamily="34" charset="0"/>
                <a:ea typeface="Nunito" pitchFamily="34" charset="-122"/>
                <a:cs typeface="Nunito"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docs/pseudocodigo.md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7"/>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Ejemplo a mano con 6 puntos</a:t>
            </a:r>
            <a:endParaRPr lang="en-US" sz="3800" dirty="0"/>
          </a:p>
        </p:txBody>
      </p:sp>
      <p:sp>
        <p:nvSpPr>
          <p:cNvPr id="4" name="Shape 1"/>
          <p:cNvSpPr/>
          <p:nvPr/>
        </p:nvSpPr>
        <p:spPr>
          <a:xfrm>
            <a:off x="812800" y="1714500"/>
            <a:ext cx="6127750" cy="2870200"/>
          </a:xfrm>
          <a:prstGeom prst="roundRect">
            <a:avLst>
              <a:gd name="adj" fmla="val 3540"/>
            </a:avLst>
          </a:prstGeom>
          <a:solidFill>
            <a:srgbClr val="FFFFFF"/>
          </a:solidFill>
          <a:ln w="28575">
            <a:solidFill>
              <a:srgbClr val="1E1E1E"/>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65200" y="1866900"/>
          <a:ext cx="5822950" cy="914400"/>
        </p:xfrm>
        <a:graphic>
          <a:graphicData uri="http://schemas.openxmlformats.org/drawingml/2006/table">
            <a:tbl>
              <a:tblPr/>
              <a:tblGrid>
                <a:gridCol w="698754"/>
                <a:gridCol w="1688656"/>
                <a:gridCol w="844328"/>
                <a:gridCol w="1746885"/>
                <a:gridCol w="844328"/>
              </a:tblGrid>
              <a:tr h="419100">
                <a:tc>
                  <a:txBody>
                    <a:bodyPr/>
                    <a:lstStyle/>
                    <a:p>
                      <a:pPr algn="l" indent="0" marL="0">
                        <a:buNone/>
                      </a:pPr>
                      <a:r>
                        <a:rPr lang="en-US" sz="1400" b="1" dirty="0">
                          <a:solidFill>
                            <a:srgbClr val="495057"/>
                          </a:solidFill>
                          <a:latin typeface="Nunito" pitchFamily="34" charset="0"/>
                          <a:ea typeface="Nunito" pitchFamily="34" charset="-122"/>
                          <a:cs typeface="Nunito" pitchFamily="34" charset="-120"/>
                        </a:rPr>
                        <a:t>Paso</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495057"/>
                          </a:solidFill>
                          <a:latin typeface="Nunito" pitchFamily="34" charset="0"/>
                          <a:ea typeface="Nunito" pitchFamily="34" charset="-122"/>
                          <a:cs typeface="Nunito" pitchFamily="34" charset="-120"/>
                        </a:rPr>
                        <a:t>Single</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495057"/>
                          </a:solidFill>
                          <a:latin typeface="Nunito" pitchFamily="34" charset="0"/>
                          <a:ea typeface="Nunito" pitchFamily="34" charset="-122"/>
                          <a:cs typeface="Nunito" pitchFamily="34" charset="-120"/>
                        </a:rPr>
                        <a:t>Altura</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495057"/>
                          </a:solidFill>
                          <a:latin typeface="Nunito" pitchFamily="34" charset="0"/>
                          <a:ea typeface="Nunito" pitchFamily="34" charset="-122"/>
                          <a:cs typeface="Nunito" pitchFamily="34" charset="-120"/>
                        </a:rPr>
                        <a:t>Ward</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495057"/>
                          </a:solidFill>
                          <a:latin typeface="Nunito" pitchFamily="34" charset="0"/>
                          <a:ea typeface="Nunito" pitchFamily="34" charset="-122"/>
                          <a:cs typeface="Nunito" pitchFamily="34" charset="-120"/>
                        </a:rPr>
                        <a:t>Altura</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r>
              <a:tr h="419100">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1</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p0 + p1 → C6</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E1E1E"/>
                          </a:solidFill>
                          <a:latin typeface="Nunito" pitchFamily="34" charset="0"/>
                          <a:ea typeface="Nunito" pitchFamily="34" charset="-122"/>
                          <a:cs typeface="Nunito" pitchFamily="34" charset="-120"/>
                        </a:rPr>
                        <a:t>0.135</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p0 + p1 → C6</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E1E1E"/>
                          </a:solidFill>
                          <a:latin typeface="Nunito" pitchFamily="34" charset="0"/>
                          <a:ea typeface="Nunito" pitchFamily="34" charset="-122"/>
                          <a:cs typeface="Nunito" pitchFamily="34" charset="-120"/>
                        </a:rPr>
                        <a:t>0.135</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r>
              <a:tr h="419100">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2</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p4 + p5 → C7</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E1E1E"/>
                          </a:solidFill>
                          <a:latin typeface="Nunito" pitchFamily="34" charset="0"/>
                          <a:ea typeface="Nunito" pitchFamily="34" charset="-122"/>
                          <a:cs typeface="Nunito" pitchFamily="34" charset="-120"/>
                        </a:rPr>
                        <a:t>0.170</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p4 + p5 → C7</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E1E1E"/>
                          </a:solidFill>
                          <a:latin typeface="Nunito" pitchFamily="34" charset="0"/>
                          <a:ea typeface="Nunito" pitchFamily="34" charset="-122"/>
                          <a:cs typeface="Nunito" pitchFamily="34" charset="-120"/>
                        </a:rPr>
                        <a:t>0.170</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r>
              <a:tr h="419100">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3</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p2 + p3 → C8</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E1E1E"/>
                          </a:solidFill>
                          <a:latin typeface="Nunito" pitchFamily="34" charset="0"/>
                          <a:ea typeface="Nunito" pitchFamily="34" charset="-122"/>
                          <a:cs typeface="Nunito" pitchFamily="34" charset="-120"/>
                        </a:rPr>
                        <a:t>0.184</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p2 + p3 → C8</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E1E1E"/>
                          </a:solidFill>
                          <a:latin typeface="Nunito" pitchFamily="34" charset="0"/>
                          <a:ea typeface="Nunito" pitchFamily="34" charset="-122"/>
                          <a:cs typeface="Nunito" pitchFamily="34" charset="-120"/>
                        </a:rPr>
                        <a:t>0.184</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r>
              <a:tr h="419100">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4</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EC99"/>
                    </a:solidFill>
                  </a:tcPr>
                </a:tc>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C6 + C8 → C9</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EC99"/>
                    </a:solidFill>
                  </a:tcPr>
                </a:tc>
                <a:tc>
                  <a:txBody>
                    <a:bodyPr/>
                    <a:lstStyle/>
                    <a:p>
                      <a:pPr algn="r" indent="0" marL="0">
                        <a:buNone/>
                      </a:pPr>
                      <a:r>
                        <a:rPr lang="en-US" sz="1400" dirty="0">
                          <a:solidFill>
                            <a:srgbClr val="1E1E1E"/>
                          </a:solidFill>
                          <a:latin typeface="Nunito" pitchFamily="34" charset="0"/>
                          <a:ea typeface="Nunito" pitchFamily="34" charset="-122"/>
                          <a:cs typeface="Nunito" pitchFamily="34" charset="-120"/>
                        </a:rPr>
                        <a:t>0.414</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EC99"/>
                    </a:solidFill>
                  </a:tcPr>
                </a:tc>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C6 + C7 → C9</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EC99"/>
                    </a:solidFill>
                  </a:tcPr>
                </a:tc>
                <a:tc>
                  <a:txBody>
                    <a:bodyPr/>
                    <a:lstStyle/>
                    <a:p>
                      <a:pPr algn="r" indent="0" marL="0">
                        <a:buNone/>
                      </a:pPr>
                      <a:r>
                        <a:rPr lang="en-US" sz="1400" dirty="0">
                          <a:solidFill>
                            <a:srgbClr val="1E1E1E"/>
                          </a:solidFill>
                          <a:latin typeface="Nunito" pitchFamily="34" charset="0"/>
                          <a:ea typeface="Nunito" pitchFamily="34" charset="-122"/>
                          <a:cs typeface="Nunito" pitchFamily="34" charset="-120"/>
                        </a:rPr>
                        <a:t>0.746</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EC99"/>
                    </a:solidFill>
                  </a:tcPr>
                </a:tc>
              </a:tr>
              <a:tr h="419100">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5</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C7 + C9 → C10</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E1E1E"/>
                          </a:solidFill>
                          <a:latin typeface="Nunito" pitchFamily="34" charset="0"/>
                          <a:ea typeface="Nunito" pitchFamily="34" charset="-122"/>
                          <a:cs typeface="Nunito" pitchFamily="34" charset="-120"/>
                        </a:rPr>
                        <a:t>0.420</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1E1E"/>
                          </a:solidFill>
                          <a:latin typeface="Nunito" pitchFamily="34" charset="0"/>
                          <a:ea typeface="Nunito" pitchFamily="34" charset="-122"/>
                          <a:cs typeface="Nunito" pitchFamily="34" charset="-120"/>
                        </a:rPr>
                        <a:t>C8 + C9 → C10</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E1E1E"/>
                          </a:solidFill>
                          <a:latin typeface="Nunito" pitchFamily="34" charset="0"/>
                          <a:ea typeface="Nunito" pitchFamily="34" charset="-122"/>
                          <a:cs typeface="Nunito" pitchFamily="34" charset="-120"/>
                        </a:rPr>
                        <a:t>0.754</a:t>
                      </a:r>
                      <a:endParaRPr lang="en-US" sz="1400" dirty="0">
                        <a:latin typeface="Nunito" charset="0"/>
                        <a:ea typeface="Nunito" charset="0"/>
                        <a:cs typeface="Nunito"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r>
            </a:tbl>
          </a:graphicData>
        </a:graphic>
      </p:graphicFrame>
      <p:sp>
        <p:nvSpPr>
          <p:cNvPr id="6" name="Text 2"/>
          <p:cNvSpPr txBox="1"/>
          <p:nvPr/>
        </p:nvSpPr>
        <p:spPr>
          <a:xfrm rot="-90000">
            <a:off x="7296150" y="1752600"/>
            <a:ext cx="4083050" cy="762000"/>
          </a:xfrm>
          <a:prstGeom prst="rect">
            <a:avLst/>
          </a:prstGeom>
          <a:noFill/>
          <a:ln/>
        </p:spPr>
        <p:txBody>
          <a:bodyPr wrap="square" lIns="0" tIns="0" rIns="0" bIns="0" rtlCol="0" anchor="t"/>
          <a:lstStyle/>
          <a:p>
            <a:pPr algn="l" indent="0" marL="0">
              <a:lnSpc>
                <a:spcPct val="105000"/>
              </a:lnSpc>
              <a:buNone/>
            </a:pPr>
            <a:r>
              <a:rPr lang="en-US" sz="2200" dirty="0">
                <a:solidFill>
                  <a:srgbClr val="E03131"/>
                </a:solidFill>
                <a:latin typeface="Kalam" pitchFamily="34" charset="0"/>
                <a:ea typeface="Kalam" pitchFamily="34" charset="-122"/>
                <a:cs typeface="Kalam" pitchFamily="34" charset="-120"/>
              </a:rPr>
              <a:t>¡En el paso 4 los enlaces discrepan!</a:t>
            </a:r>
            <a:endParaRPr lang="en-US" sz="2200" dirty="0"/>
          </a:p>
        </p:txBody>
      </p:sp>
      <p:sp>
        <p:nvSpPr>
          <p:cNvPr id="7" name="Text 3"/>
          <p:cNvSpPr txBox="1"/>
          <p:nvPr/>
        </p:nvSpPr>
        <p:spPr>
          <a:xfrm>
            <a:off x="7296150" y="2730500"/>
            <a:ext cx="4083050" cy="825500"/>
          </a:xfrm>
          <a:prstGeom prst="rect">
            <a:avLst/>
          </a:prstGeom>
          <a:noFill/>
          <a:ln/>
        </p:spPr>
        <p:txBody>
          <a:bodyPr wrap="square" lIns="0" tIns="0" rIns="0" bIns="0" rtlCol="0" anchor="t"/>
          <a:lstStyle/>
          <a:p>
            <a:pPr algn="l" indent="0" marL="0">
              <a:lnSpc>
                <a:spcPct val="115000"/>
              </a:lnSpc>
              <a:buNone/>
            </a:pPr>
            <a:r>
              <a:rPr lang="en-US" sz="1400" b="1" dirty="0">
                <a:solidFill>
                  <a:srgbClr val="1E1E1E"/>
                </a:solidFill>
                <a:latin typeface="Nunito" pitchFamily="34" charset="0"/>
                <a:ea typeface="Nunito" pitchFamily="34" charset="-122"/>
                <a:cs typeface="Nunito" pitchFamily="34" charset="-120"/>
              </a:rPr>
              <a:t>Single</a:t>
            </a:r>
            <a:pPr algn="l" indent="0" marL="0">
              <a:lnSpc>
                <a:spcPct val="115000"/>
              </a:lnSpc>
              <a:buNone/>
            </a:pPr>
            <a:r>
              <a:rPr lang="en-US" sz="1400" dirty="0">
                <a:solidFill>
                  <a:srgbClr val="1E1E1E"/>
                </a:solidFill>
                <a:latin typeface="Nunito" pitchFamily="34" charset="0"/>
                <a:ea typeface="Nunito" pitchFamily="34" charset="-122"/>
                <a:cs typeface="Nunito" pitchFamily="34" charset="-120"/>
              </a:rPr>
              <a:t> une {p0, p1} con {p2, p3}, porque p1 y p2 están cerca.</a:t>
            </a:r>
            <a:endParaRPr lang="en-US" sz="1400" dirty="0"/>
          </a:p>
        </p:txBody>
      </p:sp>
      <p:sp>
        <p:nvSpPr>
          <p:cNvPr id="8" name="Text 4"/>
          <p:cNvSpPr txBox="1"/>
          <p:nvPr/>
        </p:nvSpPr>
        <p:spPr>
          <a:xfrm>
            <a:off x="7296150" y="3683000"/>
            <a:ext cx="4083050" cy="825500"/>
          </a:xfrm>
          <a:prstGeom prst="rect">
            <a:avLst/>
          </a:prstGeom>
          <a:noFill/>
          <a:ln/>
        </p:spPr>
        <p:txBody>
          <a:bodyPr wrap="square" lIns="0" tIns="0" rIns="0" bIns="0" rtlCol="0" anchor="t"/>
          <a:lstStyle/>
          <a:p>
            <a:pPr algn="l" indent="0" marL="0">
              <a:lnSpc>
                <a:spcPct val="115000"/>
              </a:lnSpc>
              <a:buNone/>
            </a:pPr>
            <a:r>
              <a:rPr lang="en-US" sz="1400" b="1" dirty="0">
                <a:solidFill>
                  <a:srgbClr val="1E1E1E"/>
                </a:solidFill>
                <a:latin typeface="Nunito" pitchFamily="34" charset="0"/>
                <a:ea typeface="Nunito" pitchFamily="34" charset="-122"/>
                <a:cs typeface="Nunito" pitchFamily="34" charset="-120"/>
              </a:rPr>
              <a:t>Ward</a:t>
            </a:r>
            <a:pPr algn="l" indent="0" marL="0">
              <a:lnSpc>
                <a:spcPct val="115000"/>
              </a:lnSpc>
              <a:buNone/>
            </a:pPr>
            <a:r>
              <a:rPr lang="en-US" sz="1400" dirty="0">
                <a:solidFill>
                  <a:srgbClr val="1E1E1E"/>
                </a:solidFill>
                <a:latin typeface="Nunito" pitchFamily="34" charset="0"/>
                <a:ea typeface="Nunito" pitchFamily="34" charset="-122"/>
                <a:cs typeface="Nunito" pitchFamily="34" charset="-120"/>
              </a:rPr>
              <a:t> une {p0, p1} con {p4, p5}, la fusión que menos aumenta la varianza.</a:t>
            </a:r>
            <a:endParaRPr lang="en-US" sz="1400" dirty="0"/>
          </a:p>
        </p:txBody>
      </p:sp>
      <p:sp>
        <p:nvSpPr>
          <p:cNvPr id="9" name="Text 5"/>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8 / 17</a:t>
            </a:r>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 · </a:t>
            </a:r>
            <a:pPr algn="l" indent="0" marL="0">
              <a:lnSpc>
                <a:spcPct val="100000"/>
              </a:lnSpc>
              <a:buNone/>
            </a:pPr>
            <a:r>
              <a:rPr lang="en-US" sz="1200" u="sng" dirty="0">
                <a:solidFill>
                  <a:srgbClr val="1971C2"/>
                </a:solidFill>
                <a:latin typeface="Nunito" pitchFamily="34" charset="0"/>
                <a:ea typeface="Nunito" pitchFamily="34" charset="-122"/>
                <a:cs typeface="Nuni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docs/pseudocodigo.md §6</a:t>
            </a:r>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 · diagramas 4 y 5 en </a:t>
            </a:r>
            <a:pPr algn="l" indent="0" marL="0">
              <a:lnSpc>
                <a:spcPct val="100000"/>
              </a:lnSpc>
              <a:buNone/>
            </a:pPr>
            <a:r>
              <a:rPr lang="en-US" sz="1200" u="sng" dirty="0">
                <a:solidFill>
                  <a:srgbClr val="1971C2"/>
                </a:solidFill>
                <a:latin typeface="Nunito" pitchFamily="34" charset="0"/>
                <a:ea typeface="Nunito" pitchFamily="34" charset="-122"/>
                <a:cs typeface="Nun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docs/diagramas.md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7"/>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Cómo leer un dendrograma</a:t>
            </a:r>
            <a:endParaRPr lang="en-US" sz="3800" dirty="0"/>
          </a:p>
        </p:txBody>
      </p:sp>
      <p:pic>
        <p:nvPicPr>
          <p:cNvPr id="4" name="Image 0" descr="Dendrograma del ejemplo con enlace single y una línea de corte que deja tres clusters">    </p:cNvPr>
          <p:cNvPicPr>
            <a:picLocks noChangeAspect="1"/>
          </p:cNvPicPr>
          <p:nvPr/>
        </p:nvPicPr>
        <p:blipFill>
          <a:blip r:embed="rId1"/>
          <a:stretch>
            <a:fillRect/>
          </a:stretch>
        </p:blipFill>
        <p:spPr>
          <a:xfrm>
            <a:off x="812800" y="1841500"/>
            <a:ext cx="5715000" cy="3556000"/>
          </a:xfrm>
          <a:prstGeom prst="rect">
            <a:avLst/>
          </a:prstGeom>
        </p:spPr>
      </p:pic>
      <p:sp>
        <p:nvSpPr>
          <p:cNvPr id="5" name="Text 1"/>
          <p:cNvSpPr txBox="1"/>
          <p:nvPr/>
        </p:nvSpPr>
        <p:spPr>
          <a:xfrm>
            <a:off x="1193800" y="5194300"/>
            <a:ext cx="381000" cy="228600"/>
          </a:xfrm>
          <a:prstGeom prst="rect">
            <a:avLst/>
          </a:prstGeom>
          <a:noFill/>
          <a:ln/>
        </p:spPr>
        <p:txBody>
          <a:bodyPr wrap="square" lIns="0" tIns="0" rIns="0" bIns="0" rtlCol="0" anchor="t"/>
          <a:lstStyle/>
          <a:p>
            <a:pPr algn="ctr" indent="0" marL="0">
              <a:lnSpc>
                <a:spcPct val="100000"/>
              </a:lnSpc>
              <a:buNone/>
            </a:pPr>
            <a:r>
              <a:rPr lang="en-US" sz="1200" dirty="0">
                <a:solidFill>
                  <a:srgbClr val="1E1E1E"/>
                </a:solidFill>
                <a:latin typeface="Fira Code" pitchFamily="34" charset="0"/>
                <a:ea typeface="Fira Code" pitchFamily="34" charset="-122"/>
                <a:cs typeface="Fira Code" pitchFamily="34" charset="-120"/>
              </a:rPr>
              <a:t>p4</a:t>
            </a:r>
            <a:endParaRPr lang="en-US" sz="1200" dirty="0"/>
          </a:p>
        </p:txBody>
      </p:sp>
      <p:sp>
        <p:nvSpPr>
          <p:cNvPr id="6" name="Text 2"/>
          <p:cNvSpPr txBox="1"/>
          <p:nvPr/>
        </p:nvSpPr>
        <p:spPr>
          <a:xfrm>
            <a:off x="2082800" y="5194300"/>
            <a:ext cx="381000" cy="228600"/>
          </a:xfrm>
          <a:prstGeom prst="rect">
            <a:avLst/>
          </a:prstGeom>
          <a:noFill/>
          <a:ln/>
        </p:spPr>
        <p:txBody>
          <a:bodyPr wrap="square" lIns="0" tIns="0" rIns="0" bIns="0" rtlCol="0" anchor="t"/>
          <a:lstStyle/>
          <a:p>
            <a:pPr algn="ctr" indent="0" marL="0">
              <a:lnSpc>
                <a:spcPct val="100000"/>
              </a:lnSpc>
              <a:buNone/>
            </a:pPr>
            <a:r>
              <a:rPr lang="en-US" sz="1200" dirty="0">
                <a:solidFill>
                  <a:srgbClr val="1E1E1E"/>
                </a:solidFill>
                <a:latin typeface="Fira Code" pitchFamily="34" charset="0"/>
                <a:ea typeface="Fira Code" pitchFamily="34" charset="-122"/>
                <a:cs typeface="Fira Code" pitchFamily="34" charset="-120"/>
              </a:rPr>
              <a:t>p5</a:t>
            </a:r>
            <a:endParaRPr lang="en-US" sz="1200" dirty="0"/>
          </a:p>
        </p:txBody>
      </p:sp>
      <p:sp>
        <p:nvSpPr>
          <p:cNvPr id="7" name="Text 3"/>
          <p:cNvSpPr txBox="1"/>
          <p:nvPr/>
        </p:nvSpPr>
        <p:spPr>
          <a:xfrm>
            <a:off x="2971800" y="5194300"/>
            <a:ext cx="381000" cy="228600"/>
          </a:xfrm>
          <a:prstGeom prst="rect">
            <a:avLst/>
          </a:prstGeom>
          <a:noFill/>
          <a:ln/>
        </p:spPr>
        <p:txBody>
          <a:bodyPr wrap="square" lIns="0" tIns="0" rIns="0" bIns="0" rtlCol="0" anchor="t"/>
          <a:lstStyle/>
          <a:p>
            <a:pPr algn="ctr" indent="0" marL="0">
              <a:lnSpc>
                <a:spcPct val="100000"/>
              </a:lnSpc>
              <a:buNone/>
            </a:pPr>
            <a:r>
              <a:rPr lang="en-US" sz="1200" dirty="0">
                <a:solidFill>
                  <a:srgbClr val="1E1E1E"/>
                </a:solidFill>
                <a:latin typeface="Fira Code" pitchFamily="34" charset="0"/>
                <a:ea typeface="Fira Code" pitchFamily="34" charset="-122"/>
                <a:cs typeface="Fira Code" pitchFamily="34" charset="-120"/>
              </a:rPr>
              <a:t>p0</a:t>
            </a:r>
            <a:endParaRPr lang="en-US" sz="1200" dirty="0"/>
          </a:p>
        </p:txBody>
      </p:sp>
      <p:sp>
        <p:nvSpPr>
          <p:cNvPr id="8" name="Text 4"/>
          <p:cNvSpPr txBox="1"/>
          <p:nvPr/>
        </p:nvSpPr>
        <p:spPr>
          <a:xfrm>
            <a:off x="3860800" y="5194300"/>
            <a:ext cx="381000" cy="228600"/>
          </a:xfrm>
          <a:prstGeom prst="rect">
            <a:avLst/>
          </a:prstGeom>
          <a:noFill/>
          <a:ln/>
        </p:spPr>
        <p:txBody>
          <a:bodyPr wrap="square" lIns="0" tIns="0" rIns="0" bIns="0" rtlCol="0" anchor="t"/>
          <a:lstStyle/>
          <a:p>
            <a:pPr algn="ctr" indent="0" marL="0">
              <a:lnSpc>
                <a:spcPct val="100000"/>
              </a:lnSpc>
              <a:buNone/>
            </a:pPr>
            <a:r>
              <a:rPr lang="en-US" sz="1200" dirty="0">
                <a:solidFill>
                  <a:srgbClr val="1E1E1E"/>
                </a:solidFill>
                <a:latin typeface="Fira Code" pitchFamily="34" charset="0"/>
                <a:ea typeface="Fira Code" pitchFamily="34" charset="-122"/>
                <a:cs typeface="Fira Code" pitchFamily="34" charset="-120"/>
              </a:rPr>
              <a:t>p1</a:t>
            </a:r>
            <a:endParaRPr lang="en-US" sz="1200" dirty="0"/>
          </a:p>
        </p:txBody>
      </p:sp>
      <p:sp>
        <p:nvSpPr>
          <p:cNvPr id="9" name="Text 5"/>
          <p:cNvSpPr txBox="1"/>
          <p:nvPr/>
        </p:nvSpPr>
        <p:spPr>
          <a:xfrm>
            <a:off x="4749800" y="5194300"/>
            <a:ext cx="381000" cy="228600"/>
          </a:xfrm>
          <a:prstGeom prst="rect">
            <a:avLst/>
          </a:prstGeom>
          <a:noFill/>
          <a:ln/>
        </p:spPr>
        <p:txBody>
          <a:bodyPr wrap="square" lIns="0" tIns="0" rIns="0" bIns="0" rtlCol="0" anchor="t"/>
          <a:lstStyle/>
          <a:p>
            <a:pPr algn="ctr" indent="0" marL="0">
              <a:lnSpc>
                <a:spcPct val="100000"/>
              </a:lnSpc>
              <a:buNone/>
            </a:pPr>
            <a:r>
              <a:rPr lang="en-US" sz="1200" dirty="0">
                <a:solidFill>
                  <a:srgbClr val="1E1E1E"/>
                </a:solidFill>
                <a:latin typeface="Fira Code" pitchFamily="34" charset="0"/>
                <a:ea typeface="Fira Code" pitchFamily="34" charset="-122"/>
                <a:cs typeface="Fira Code" pitchFamily="34" charset="-120"/>
              </a:rPr>
              <a:t>p2</a:t>
            </a:r>
            <a:endParaRPr lang="en-US" sz="1200" dirty="0"/>
          </a:p>
        </p:txBody>
      </p:sp>
      <p:sp>
        <p:nvSpPr>
          <p:cNvPr id="10" name="Text 6"/>
          <p:cNvSpPr txBox="1"/>
          <p:nvPr/>
        </p:nvSpPr>
        <p:spPr>
          <a:xfrm>
            <a:off x="5638800" y="5194300"/>
            <a:ext cx="381000" cy="228600"/>
          </a:xfrm>
          <a:prstGeom prst="rect">
            <a:avLst/>
          </a:prstGeom>
          <a:noFill/>
          <a:ln/>
        </p:spPr>
        <p:txBody>
          <a:bodyPr wrap="square" lIns="0" tIns="0" rIns="0" bIns="0" rtlCol="0" anchor="t"/>
          <a:lstStyle/>
          <a:p>
            <a:pPr algn="ctr" indent="0" marL="0">
              <a:lnSpc>
                <a:spcPct val="100000"/>
              </a:lnSpc>
              <a:buNone/>
            </a:pPr>
            <a:r>
              <a:rPr lang="en-US" sz="1200" dirty="0">
                <a:solidFill>
                  <a:srgbClr val="1E1E1E"/>
                </a:solidFill>
                <a:latin typeface="Fira Code" pitchFamily="34" charset="0"/>
                <a:ea typeface="Fira Code" pitchFamily="34" charset="-122"/>
                <a:cs typeface="Fira Code" pitchFamily="34" charset="-120"/>
              </a:rPr>
              <a:t>p3</a:t>
            </a:r>
            <a:endParaRPr lang="en-US" sz="1200" dirty="0"/>
          </a:p>
        </p:txBody>
      </p:sp>
      <p:sp>
        <p:nvSpPr>
          <p:cNvPr id="11" name="Text 7"/>
          <p:cNvSpPr txBox="1"/>
          <p:nvPr/>
        </p:nvSpPr>
        <p:spPr>
          <a:xfrm>
            <a:off x="1117600" y="1905000"/>
            <a:ext cx="1270000" cy="279400"/>
          </a:xfrm>
          <a:prstGeom prst="rect">
            <a:avLst/>
          </a:prstGeom>
          <a:noFill/>
          <a:ln/>
        </p:spPr>
        <p:txBody>
          <a:bodyPr wrap="square" lIns="0" tIns="0" rIns="0" bIns="0" rtlCol="0" anchor="t"/>
          <a:lstStyle/>
          <a:p>
            <a:pPr algn="l" indent="0" marL="0">
              <a:lnSpc>
                <a:spcPct val="100000"/>
              </a:lnSpc>
              <a:buNone/>
            </a:pPr>
            <a:r>
              <a:rPr lang="en-US" sz="1500" dirty="0">
                <a:solidFill>
                  <a:srgbClr val="495057"/>
                </a:solidFill>
                <a:latin typeface="Kalam" pitchFamily="34" charset="0"/>
                <a:ea typeface="Kalam" pitchFamily="34" charset="-122"/>
                <a:cs typeface="Kalam" pitchFamily="34" charset="-120"/>
              </a:rPr>
              <a:t>↑ altura</a:t>
            </a:r>
            <a:endParaRPr lang="en-US" sz="1500" dirty="0"/>
          </a:p>
        </p:txBody>
      </p:sp>
      <p:sp>
        <p:nvSpPr>
          <p:cNvPr id="12" name="Text 8"/>
          <p:cNvSpPr txBox="1"/>
          <p:nvPr/>
        </p:nvSpPr>
        <p:spPr>
          <a:xfrm>
            <a:off x="5486400" y="3213100"/>
            <a:ext cx="1041400" cy="482600"/>
          </a:xfrm>
          <a:prstGeom prst="rect">
            <a:avLst/>
          </a:prstGeom>
          <a:noFill/>
          <a:ln/>
        </p:spPr>
        <p:txBody>
          <a:bodyPr wrap="square" lIns="0" tIns="0" rIns="0" bIns="0" rtlCol="0" anchor="t"/>
          <a:lstStyle/>
          <a:p>
            <a:pPr algn="l" indent="0" marL="0">
              <a:lnSpc>
                <a:spcPct val="100000"/>
              </a:lnSpc>
              <a:buNone/>
            </a:pPr>
            <a:r>
              <a:rPr lang="en-US" sz="1500" dirty="0">
                <a:solidFill>
                  <a:srgbClr val="E03131"/>
                </a:solidFill>
                <a:latin typeface="Kalam" pitchFamily="34" charset="0"/>
                <a:ea typeface="Kalam" pitchFamily="34" charset="-122"/>
                <a:cs typeface="Kalam" pitchFamily="34" charset="-120"/>
              </a:rPr>
              <a:t>corte</a:t>
            </a:r>
            <a:endParaRPr lang="en-US" sz="1500" dirty="0"/>
          </a:p>
          <a:p>
            <a:pPr algn="l" indent="0" marL="0">
              <a:lnSpc>
                <a:spcPct val="100000"/>
              </a:lnSpc>
              <a:buNone/>
            </a:pPr>
            <a:r>
              <a:rPr lang="en-US" sz="1500" dirty="0">
                <a:solidFill>
                  <a:srgbClr val="E03131"/>
                </a:solidFill>
                <a:latin typeface="Kalam" pitchFamily="34" charset="0"/>
                <a:ea typeface="Kalam" pitchFamily="34" charset="-122"/>
                <a:cs typeface="Kalam" pitchFamily="34" charset="-120"/>
              </a:rPr>
              <a:t>k = 3</a:t>
            </a:r>
            <a:endParaRPr lang="en-US" sz="1500" dirty="0"/>
          </a:p>
        </p:txBody>
      </p:sp>
      <p:sp>
        <p:nvSpPr>
          <p:cNvPr id="13" name="Text 9"/>
          <p:cNvSpPr/>
          <p:nvPr/>
        </p:nvSpPr>
        <p:spPr>
          <a:xfrm rot="-36000">
            <a:off x="7112000" y="1841500"/>
            <a:ext cx="4267200" cy="1117600"/>
          </a:xfrm>
          <a:prstGeom prst="roundRect">
            <a:avLst>
              <a:gd name="adj" fmla="val 9091"/>
            </a:avLst>
          </a:prstGeom>
          <a:solidFill>
            <a:srgbClr val="D0EBFF"/>
          </a:solidFill>
          <a:ln w="28575">
            <a:solidFill>
              <a:srgbClr val="1E1E1E"/>
            </a:solidFill>
          </a:ln>
        </p:spPr>
        <p:txBody>
          <a:bodyPr wrap="square" lIns="165100" tIns="165100" rIns="165100" bIns="165100" rtlCol="0" anchor="t"/>
          <a:lstStyle/>
          <a:p>
            <a:pPr algn="l" indent="0" marL="0">
              <a:lnSpc>
                <a:spcPct val="105000"/>
              </a:lnSpc>
              <a:spcAft>
                <a:spcPts val="400"/>
              </a:spcAft>
              <a:buNone/>
            </a:pPr>
            <a:r>
              <a:rPr lang="en-US" sz="1800" b="1" dirty="0">
                <a:solidFill>
                  <a:srgbClr val="1E1E1E"/>
                </a:solidFill>
                <a:latin typeface="Kalam" pitchFamily="34" charset="0"/>
                <a:ea typeface="Kalam" pitchFamily="34" charset="-122"/>
                <a:cs typeface="Kalam" pitchFamily="34" charset="-120"/>
              </a:rPr>
              <a:t>El eje vertical es lo único métrico</a:t>
            </a:r>
            <a:endParaRPr lang="en-US" sz="1800" dirty="0"/>
          </a:p>
          <a:p>
            <a:pPr algn="l" indent="0" marL="0">
              <a:lnSpc>
                <a:spcPct val="105000"/>
              </a:lnSpc>
              <a:buNone/>
            </a:pPr>
            <a:r>
              <a:rPr lang="en-US" sz="1300" dirty="0">
                <a:solidFill>
                  <a:srgbClr val="1E1E1E"/>
                </a:solidFill>
                <a:latin typeface="Nunito" pitchFamily="34" charset="0"/>
                <a:ea typeface="Nunito" pitchFamily="34" charset="-122"/>
                <a:cs typeface="Nunito" pitchFamily="34" charset="-120"/>
              </a:rPr>
              <a:t>La altura es la distancia a la que se fusionaron los grupos.</a:t>
            </a:r>
            <a:endParaRPr lang="en-US" sz="1800" dirty="0"/>
          </a:p>
        </p:txBody>
      </p:sp>
      <p:sp>
        <p:nvSpPr>
          <p:cNvPr id="14" name="Text 10"/>
          <p:cNvSpPr/>
          <p:nvPr/>
        </p:nvSpPr>
        <p:spPr>
          <a:xfrm rot="30000">
            <a:off x="7112000" y="3111500"/>
            <a:ext cx="4267200" cy="952500"/>
          </a:xfrm>
          <a:prstGeom prst="roundRect">
            <a:avLst>
              <a:gd name="adj" fmla="val 10667"/>
            </a:avLst>
          </a:prstGeom>
          <a:solidFill>
            <a:srgbClr val="FFD8A8"/>
          </a:solidFill>
          <a:ln w="28575">
            <a:solidFill>
              <a:srgbClr val="1E1E1E"/>
            </a:solidFill>
          </a:ln>
        </p:spPr>
        <p:txBody>
          <a:bodyPr wrap="square" lIns="165100" tIns="165100" rIns="165100" bIns="165100" rtlCol="0" anchor="t"/>
          <a:lstStyle/>
          <a:p>
            <a:pPr algn="l" indent="0" marL="0">
              <a:lnSpc>
                <a:spcPct val="105000"/>
              </a:lnSpc>
              <a:spcAft>
                <a:spcPts val="400"/>
              </a:spcAft>
              <a:buNone/>
            </a:pPr>
            <a:r>
              <a:rPr lang="en-US" sz="1800" b="1" dirty="0">
                <a:solidFill>
                  <a:srgbClr val="1E1E1E"/>
                </a:solidFill>
                <a:latin typeface="Kalam" pitchFamily="34" charset="0"/>
                <a:ea typeface="Kalam" pitchFamily="34" charset="-122"/>
                <a:cs typeface="Kalam" pitchFamily="34" charset="-120"/>
              </a:rPr>
              <a:t>El orden horizontal no significa nada</a:t>
            </a:r>
            <a:endParaRPr lang="en-US" sz="1800" dirty="0"/>
          </a:p>
          <a:p>
            <a:pPr algn="l" indent="0" marL="0">
              <a:lnSpc>
                <a:spcPct val="105000"/>
              </a:lnSpc>
              <a:buNone/>
            </a:pPr>
            <a:r>
              <a:rPr lang="en-US" sz="1300" dirty="0">
                <a:solidFill>
                  <a:srgbClr val="1E1E1E"/>
                </a:solidFill>
                <a:latin typeface="Nunito" pitchFamily="34" charset="0"/>
                <a:ea typeface="Nunito" pitchFamily="34" charset="-122"/>
                <a:cs typeface="Nunito" pitchFamily="34" charset="-120"/>
              </a:rPr>
              <a:t>p5 y p0 son vecinas, pero solo se unen en la raíz.</a:t>
            </a:r>
            <a:endParaRPr lang="en-US" sz="1800" dirty="0"/>
          </a:p>
        </p:txBody>
      </p:sp>
      <p:sp>
        <p:nvSpPr>
          <p:cNvPr id="15" name="Text 11"/>
          <p:cNvSpPr/>
          <p:nvPr/>
        </p:nvSpPr>
        <p:spPr>
          <a:xfrm rot="-24000">
            <a:off x="7112000" y="4216400"/>
            <a:ext cx="4267200" cy="889000"/>
          </a:xfrm>
          <a:prstGeom prst="roundRect">
            <a:avLst>
              <a:gd name="adj" fmla="val 11429"/>
            </a:avLst>
          </a:prstGeom>
          <a:solidFill>
            <a:srgbClr val="B2F2BB"/>
          </a:solidFill>
          <a:ln w="28575">
            <a:solidFill>
              <a:srgbClr val="1E1E1E"/>
            </a:solidFill>
          </a:ln>
        </p:spPr>
        <p:txBody>
          <a:bodyPr wrap="square" lIns="165100" tIns="165100" rIns="165100" bIns="165100" rtlCol="0" anchor="t"/>
          <a:lstStyle/>
          <a:p>
            <a:pPr algn="l" indent="0" marL="0">
              <a:lnSpc>
                <a:spcPct val="105000"/>
              </a:lnSpc>
              <a:spcAft>
                <a:spcPts val="400"/>
              </a:spcAft>
              <a:buNone/>
            </a:pPr>
            <a:r>
              <a:rPr lang="en-US" sz="1800" b="1" dirty="0">
                <a:solidFill>
                  <a:srgbClr val="1E1E1E"/>
                </a:solidFill>
                <a:latin typeface="Kalam" pitchFamily="34" charset="0"/>
                <a:ea typeface="Kalam" pitchFamily="34" charset="-122"/>
                <a:cs typeface="Kalam" pitchFamily="34" charset="-120"/>
              </a:rPr>
              <a:t>Cortar = elegir k</a:t>
            </a:r>
            <a:endParaRPr lang="en-US" sz="1800" dirty="0"/>
          </a:p>
          <a:p>
            <a:pPr algn="l" indent="0" marL="0">
              <a:lnSpc>
                <a:spcPct val="105000"/>
              </a:lnSpc>
              <a:buNone/>
            </a:pPr>
            <a:r>
              <a:rPr lang="en-US" sz="1300" dirty="0">
                <a:solidFill>
                  <a:srgbClr val="1E1E1E"/>
                </a:solidFill>
                <a:latin typeface="Nunito" pitchFamily="34" charset="0"/>
                <a:ea typeface="Nunito" pitchFamily="34" charset="-122"/>
                <a:cs typeface="Nunito" pitchFamily="34" charset="-120"/>
              </a:rPr>
              <a:t>Cada rama que cruza la línea es un cluster.</a:t>
            </a:r>
            <a:endParaRPr lang="en-US" sz="1800" dirty="0"/>
          </a:p>
        </p:txBody>
      </p:sp>
      <p:sp>
        <p:nvSpPr>
          <p:cNvPr id="16" name="Text 12"/>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9 / 17</a:t>
            </a:r>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 · </a:t>
            </a:r>
            <a:pPr algn="l" indent="0" marL="0">
              <a:lnSpc>
                <a:spcPct val="100000"/>
              </a:lnSpc>
              <a:buNone/>
            </a:pPr>
            <a:r>
              <a:rPr lang="en-US" sz="1200" u="sng" dirty="0">
                <a:solidFill>
                  <a:srgbClr val="1971C2"/>
                </a:solidFill>
                <a:latin typeface="Nunito" pitchFamily="34" charset="0"/>
                <a:ea typeface="Nunito" pitchFamily="34" charset="-122"/>
                <a:cs typeface="Nun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docs/pseudocodigo.md §5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3F5"/>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¿Cuántos clusters? Dos pistas</a:t>
            </a:r>
            <a:endParaRPr lang="en-US" sz="3800" dirty="0"/>
          </a:p>
        </p:txBody>
      </p:sp>
      <p:sp>
        <p:nvSpPr>
          <p:cNvPr id="4" name="Text 1"/>
          <p:cNvSpPr/>
          <p:nvPr/>
        </p:nvSpPr>
        <p:spPr>
          <a:xfrm rot="-36000">
            <a:off x="812800" y="1841500"/>
            <a:ext cx="5130800" cy="2794000"/>
          </a:xfrm>
          <a:prstGeom prst="roundRect">
            <a:avLst>
              <a:gd name="adj" fmla="val 3636"/>
            </a:avLst>
          </a:prstGeom>
          <a:solidFill>
            <a:srgbClr val="FFFFFF"/>
          </a:solidFill>
          <a:ln w="28575">
            <a:solidFill>
              <a:srgbClr val="1E1E1E"/>
            </a:solidFill>
          </a:ln>
        </p:spPr>
        <p:txBody>
          <a:bodyPr wrap="square" lIns="304800" tIns="304800" rIns="304800" bIns="304800" rtlCol="0" anchor="t"/>
          <a:lstStyle/>
          <a:p>
            <a:pPr algn="l" indent="0" marL="0">
              <a:lnSpc>
                <a:spcPct val="105000"/>
              </a:lnSpc>
              <a:spcAft>
                <a:spcPts val="800"/>
              </a:spcAft>
              <a:buNone/>
            </a:pPr>
            <a:r>
              <a:rPr lang="en-US" sz="1300" b="1" spc="200" kern="0" dirty="0">
                <a:solidFill>
                  <a:srgbClr val="1971C2"/>
                </a:solidFill>
                <a:latin typeface="Nunito" pitchFamily="34" charset="0"/>
                <a:ea typeface="Nunito" pitchFamily="34" charset="-122"/>
                <a:cs typeface="Nunito" pitchFamily="34" charset="-120"/>
              </a:rPr>
              <a:t>SALTO EN LA ALTURA</a:t>
            </a:r>
            <a:endParaRPr lang="en-US" sz="1300" dirty="0"/>
          </a:p>
          <a:p>
            <a:pPr algn="l" indent="0" marL="0">
              <a:lnSpc>
                <a:spcPct val="105000"/>
              </a:lnSpc>
              <a:spcAft>
                <a:spcPts val="800"/>
              </a:spcAft>
              <a:buNone/>
            </a:pPr>
            <a:r>
              <a:rPr lang="en-US" sz="6000" b="1" dirty="0">
                <a:solidFill>
                  <a:srgbClr val="1E1E1E"/>
                </a:solidFill>
                <a:latin typeface="Kalam" pitchFamily="34" charset="0"/>
                <a:ea typeface="Kalam" pitchFamily="34" charset="-122"/>
                <a:cs typeface="Kalam" pitchFamily="34" charset="-120"/>
              </a:rPr>
              <a:t>7×</a:t>
            </a:r>
            <a:endParaRPr lang="en-US" sz="1300" dirty="0"/>
          </a:p>
          <a:p>
            <a:pPr algn="l" indent="0" marL="0">
              <a:lnSpc>
                <a:spcPct val="105000"/>
              </a:lnSpc>
              <a:buNone/>
            </a:pPr>
            <a:r>
              <a:rPr lang="en-US" sz="1500" dirty="0">
                <a:solidFill>
                  <a:srgbClr val="1E1E1E"/>
                </a:solidFill>
                <a:latin typeface="Nunito" pitchFamily="34" charset="0"/>
                <a:ea typeface="Nunito" pitchFamily="34" charset="-122"/>
                <a:cs typeface="Nunito" pitchFamily="34" charset="-120"/>
              </a:rPr>
              <a:t>Pasar de 3 a 2 clusters cuesta 13.0; pasar de 4 a 3 cuesta 1.85. Un salto así marca el corte natural.</a:t>
            </a:r>
            <a:endParaRPr lang="en-US" sz="1300" dirty="0"/>
          </a:p>
        </p:txBody>
      </p:sp>
      <p:sp>
        <p:nvSpPr>
          <p:cNvPr id="5" name="Text 2"/>
          <p:cNvSpPr/>
          <p:nvPr/>
        </p:nvSpPr>
        <p:spPr>
          <a:xfrm rot="36000">
            <a:off x="6248400" y="1841500"/>
            <a:ext cx="5130800" cy="2794000"/>
          </a:xfrm>
          <a:prstGeom prst="roundRect">
            <a:avLst>
              <a:gd name="adj" fmla="val 3636"/>
            </a:avLst>
          </a:prstGeom>
          <a:solidFill>
            <a:srgbClr val="FFFFFF"/>
          </a:solidFill>
          <a:ln w="28575">
            <a:solidFill>
              <a:srgbClr val="1E1E1E"/>
            </a:solidFill>
          </a:ln>
        </p:spPr>
        <p:txBody>
          <a:bodyPr wrap="square" lIns="304800" tIns="304800" rIns="304800" bIns="304800" rtlCol="0" anchor="t"/>
          <a:lstStyle/>
          <a:p>
            <a:pPr algn="l" indent="0" marL="0">
              <a:lnSpc>
                <a:spcPct val="105000"/>
              </a:lnSpc>
              <a:spcAft>
                <a:spcPts val="800"/>
              </a:spcAft>
              <a:buNone/>
            </a:pPr>
            <a:r>
              <a:rPr lang="en-US" sz="1300" b="1" spc="200" kern="0" dirty="0">
                <a:solidFill>
                  <a:srgbClr val="E8590C"/>
                </a:solidFill>
                <a:latin typeface="Nunito" pitchFamily="34" charset="0"/>
                <a:ea typeface="Nunito" pitchFamily="34" charset="-122"/>
                <a:cs typeface="Nunito" pitchFamily="34" charset="-120"/>
              </a:rPr>
              <a:t>COEFICIENTE DE SILUETA</a:t>
            </a:r>
            <a:endParaRPr lang="en-US" sz="1300" dirty="0"/>
          </a:p>
          <a:p>
            <a:pPr algn="l" indent="0" marL="0">
              <a:lnSpc>
                <a:spcPct val="105000"/>
              </a:lnSpc>
              <a:spcAft>
                <a:spcPts val="800"/>
              </a:spcAft>
              <a:buNone/>
            </a:pPr>
            <a:r>
              <a:rPr lang="en-US" sz="6000" b="1" dirty="0">
                <a:solidFill>
                  <a:srgbClr val="1E1E1E"/>
                </a:solidFill>
                <a:latin typeface="Kalam" pitchFamily="34" charset="0"/>
                <a:ea typeface="Kalam" pitchFamily="34" charset="-122"/>
                <a:cs typeface="Kalam" pitchFamily="34" charset="-120"/>
              </a:rPr>
              <a:t>0.846</a:t>
            </a:r>
            <a:endParaRPr lang="en-US" sz="1300" dirty="0"/>
          </a:p>
          <a:p>
            <a:pPr algn="l" indent="0" marL="0">
              <a:lnSpc>
                <a:spcPct val="105000"/>
              </a:lnSpc>
              <a:buNone/>
            </a:pPr>
            <a:r>
              <a:rPr lang="en-US" sz="1500" dirty="0">
                <a:solidFill>
                  <a:srgbClr val="1E1E1E"/>
                </a:solidFill>
                <a:latin typeface="Nunito" pitchFamily="34" charset="0"/>
                <a:ea typeface="Nunito" pitchFamily="34" charset="-122"/>
                <a:cs typeface="Nunito" pitchFamily="34" charset="-120"/>
              </a:rPr>
              <a:t>Es el máximo, y se alcanza en k = 3. Mide qué tan compactos y separados quedan los grupos.</a:t>
            </a:r>
            <a:endParaRPr lang="en-US" sz="1300" dirty="0"/>
          </a:p>
        </p:txBody>
      </p:sp>
      <p:sp>
        <p:nvSpPr>
          <p:cNvPr id="6" name="Text 3"/>
          <p:cNvSpPr txBox="1"/>
          <p:nvPr/>
        </p:nvSpPr>
        <p:spPr>
          <a:xfrm>
            <a:off x="812800" y="4953000"/>
            <a:ext cx="10566400" cy="444500"/>
          </a:xfrm>
          <a:prstGeom prst="rect">
            <a:avLst/>
          </a:prstGeom>
          <a:noFill/>
          <a:ln/>
        </p:spPr>
        <p:txBody>
          <a:bodyPr wrap="square" lIns="0" tIns="0" rIns="0" bIns="0" rtlCol="0" anchor="t"/>
          <a:lstStyle/>
          <a:p>
            <a:pPr algn="l" indent="0" marL="0">
              <a:lnSpc>
                <a:spcPct val="100000"/>
              </a:lnSpc>
              <a:buNone/>
            </a:pPr>
            <a:r>
              <a:rPr lang="en-US" sz="2200" dirty="0">
                <a:solidFill>
                  <a:srgbClr val="2F9E44"/>
                </a:solidFill>
                <a:latin typeface="Kalam" pitchFamily="34" charset="0"/>
                <a:ea typeface="Kalam" pitchFamily="34" charset="-122"/>
                <a:cs typeface="Kalam" pitchFamily="34" charset="-120"/>
              </a:rPr>
              <a:t>Ambas pistas coinciden: k = 3.</a:t>
            </a:r>
            <a:endParaRPr lang="en-US" sz="2200" dirty="0"/>
          </a:p>
        </p:txBody>
      </p:sp>
      <p:sp>
        <p:nvSpPr>
          <p:cNvPr id="7" name="Text 4"/>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10 / 17</a:t>
            </a:r>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 · datos: make_blobs, 150 puntos, Ward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7"/>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2F9E44"/>
                </a:solidFill>
                <a:latin typeface="Nunito" pitchFamily="34" charset="0"/>
                <a:ea typeface="Nunito" pitchFamily="34" charset="-122"/>
                <a:cs typeface="Nunito" pitchFamily="34" charset="-120"/>
              </a:rPr>
              <a:t>QUIÉN LO CREÓ</a:t>
            </a:r>
            <a:endParaRPr lang="en-US" sz="1200" dirty="0"/>
          </a:p>
        </p:txBody>
      </p:sp>
      <p:sp>
        <p:nvSpPr>
          <p:cNvPr id="4" name="Text 1"/>
          <p:cNvSpPr txBox="1"/>
          <p:nvPr/>
        </p:nvSpPr>
        <p:spPr>
          <a:xfrm>
            <a:off x="812800" y="10795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Muchas manos, una misma idea</a:t>
            </a:r>
            <a:endParaRPr lang="en-US" sz="3800" dirty="0"/>
          </a:p>
        </p:txBody>
      </p:sp>
      <p:sp>
        <p:nvSpPr>
          <p:cNvPr id="5" name="Text 2"/>
          <p:cNvSpPr/>
          <p:nvPr/>
        </p:nvSpPr>
        <p:spPr>
          <a:xfrm rot="-36000">
            <a:off x="812800" y="1841500"/>
            <a:ext cx="2508250" cy="1384300"/>
          </a:xfrm>
          <a:prstGeom prst="roundRect">
            <a:avLst>
              <a:gd name="adj" fmla="val 7339"/>
            </a:avLst>
          </a:prstGeom>
          <a:solidFill>
            <a:srgbClr val="FFFFFF"/>
          </a:solidFill>
          <a:ln w="28575">
            <a:solidFill>
              <a:srgbClr val="1E1E1E"/>
            </a:solidFill>
          </a:ln>
        </p:spPr>
        <p:txBody>
          <a:bodyPr wrap="square" lIns="152400" tIns="152400" rIns="152400" bIns="152400" rtlCol="0" anchor="t"/>
          <a:lstStyle/>
          <a:p>
            <a:pPr algn="l" indent="0" marL="0">
              <a:lnSpc>
                <a:spcPct val="105000"/>
              </a:lnSpc>
              <a:spcAft>
                <a:spcPts val="400"/>
              </a:spcAft>
              <a:buNone/>
            </a:pPr>
            <a:r>
              <a:rPr lang="en-US" sz="1200" b="1" dirty="0">
                <a:solidFill>
                  <a:srgbClr val="2F9E44"/>
                </a:solidFill>
                <a:latin typeface="Nunito" pitchFamily="34" charset="0"/>
                <a:ea typeface="Nunito" pitchFamily="34" charset="-122"/>
                <a:cs typeface="Nunito" pitchFamily="34" charset="-120"/>
              </a:rPr>
              <a:t>1948</a:t>
            </a:r>
            <a:endParaRPr lang="en-US" sz="1200" dirty="0"/>
          </a:p>
          <a:p>
            <a:pPr algn="l" indent="0" marL="0">
              <a:lnSpc>
                <a:spcPct val="105000"/>
              </a:lnSpc>
              <a:spcAft>
                <a:spcPts val="600"/>
              </a:spcAft>
              <a:buNone/>
            </a:pPr>
            <a:r>
              <a:rPr lang="en-US" sz="1700" b="1" dirty="0">
                <a:solidFill>
                  <a:srgbClr val="1E1E1E"/>
                </a:solidFill>
                <a:latin typeface="Kalam" pitchFamily="34" charset="0"/>
                <a:ea typeface="Kalam" pitchFamily="34" charset="-122"/>
                <a:cs typeface="Kalam" pitchFamily="34" charset="-120"/>
              </a:rPr>
              <a:t>Sørensen</a:t>
            </a:r>
            <a:endParaRPr lang="en-US" sz="1200" dirty="0"/>
          </a:p>
          <a:p>
            <a:pPr algn="l" indent="0" marL="0">
              <a:lnSpc>
                <a:spcPct val="105000"/>
              </a:lnSpc>
              <a:buNone/>
            </a:pPr>
            <a:r>
              <a:rPr lang="en-US" sz="1200" dirty="0">
                <a:solidFill>
                  <a:srgbClr val="495057"/>
                </a:solidFill>
                <a:latin typeface="Nunito" pitchFamily="34" charset="0"/>
                <a:ea typeface="Nunito" pitchFamily="34" charset="-122"/>
                <a:cs typeface="Nunito" pitchFamily="34" charset="-120"/>
              </a:rPr>
              <a:t>Ecología vegetal. Antecedente del enlace complete.</a:t>
            </a:r>
            <a:endParaRPr lang="en-US" sz="1200" dirty="0"/>
          </a:p>
        </p:txBody>
      </p:sp>
      <p:sp>
        <p:nvSpPr>
          <p:cNvPr id="6" name="Text 3"/>
          <p:cNvSpPr/>
          <p:nvPr/>
        </p:nvSpPr>
        <p:spPr>
          <a:xfrm rot="30000">
            <a:off x="3498850" y="1841500"/>
            <a:ext cx="2508250" cy="1384300"/>
          </a:xfrm>
          <a:prstGeom prst="roundRect">
            <a:avLst>
              <a:gd name="adj" fmla="val 7339"/>
            </a:avLst>
          </a:prstGeom>
          <a:solidFill>
            <a:srgbClr val="FFFFFF"/>
          </a:solidFill>
          <a:ln w="28575">
            <a:solidFill>
              <a:srgbClr val="1E1E1E"/>
            </a:solidFill>
          </a:ln>
        </p:spPr>
        <p:txBody>
          <a:bodyPr wrap="square" lIns="152400" tIns="152400" rIns="152400" bIns="152400" rtlCol="0" anchor="t"/>
          <a:lstStyle/>
          <a:p>
            <a:pPr algn="l" indent="0" marL="0">
              <a:lnSpc>
                <a:spcPct val="105000"/>
              </a:lnSpc>
              <a:spcAft>
                <a:spcPts val="400"/>
              </a:spcAft>
              <a:buNone/>
            </a:pPr>
            <a:r>
              <a:rPr lang="en-US" sz="1200" b="1" dirty="0">
                <a:solidFill>
                  <a:srgbClr val="2F9E44"/>
                </a:solidFill>
                <a:latin typeface="Nunito" pitchFamily="34" charset="0"/>
                <a:ea typeface="Nunito" pitchFamily="34" charset="-122"/>
                <a:cs typeface="Nunito" pitchFamily="34" charset="-120"/>
              </a:rPr>
              <a:t>1951</a:t>
            </a:r>
            <a:endParaRPr lang="en-US" sz="1200" dirty="0"/>
          </a:p>
          <a:p>
            <a:pPr algn="l" indent="0" marL="0">
              <a:lnSpc>
                <a:spcPct val="105000"/>
              </a:lnSpc>
              <a:spcAft>
                <a:spcPts val="600"/>
              </a:spcAft>
              <a:buNone/>
            </a:pPr>
            <a:r>
              <a:rPr lang="en-US" sz="1700" b="1" dirty="0">
                <a:solidFill>
                  <a:srgbClr val="1E1E1E"/>
                </a:solidFill>
                <a:latin typeface="Kalam" pitchFamily="34" charset="0"/>
                <a:ea typeface="Kalam" pitchFamily="34" charset="-122"/>
                <a:cs typeface="Kalam" pitchFamily="34" charset="-120"/>
              </a:rPr>
              <a:t>Florek y otros</a:t>
            </a:r>
            <a:endParaRPr lang="en-US" sz="1200" dirty="0"/>
          </a:p>
          <a:p>
            <a:pPr algn="l" indent="0" marL="0">
              <a:lnSpc>
                <a:spcPct val="105000"/>
              </a:lnSpc>
              <a:buNone/>
            </a:pPr>
            <a:r>
              <a:rPr lang="en-US" sz="1200" dirty="0">
                <a:solidFill>
                  <a:srgbClr val="495057"/>
                </a:solidFill>
                <a:latin typeface="Nunito" pitchFamily="34" charset="0"/>
                <a:ea typeface="Nunito" pitchFamily="34" charset="-122"/>
                <a:cs typeface="Nunito" pitchFamily="34" charset="-120"/>
              </a:rPr>
              <a:t>Escuela de Wrocław. Formalizan el enlace single.</a:t>
            </a:r>
            <a:endParaRPr lang="en-US" sz="1200" dirty="0"/>
          </a:p>
        </p:txBody>
      </p:sp>
      <p:sp>
        <p:nvSpPr>
          <p:cNvPr id="7" name="Text 4"/>
          <p:cNvSpPr/>
          <p:nvPr/>
        </p:nvSpPr>
        <p:spPr>
          <a:xfrm rot="-24000">
            <a:off x="6184900" y="1841500"/>
            <a:ext cx="2508250" cy="1384300"/>
          </a:xfrm>
          <a:prstGeom prst="roundRect">
            <a:avLst>
              <a:gd name="adj" fmla="val 7339"/>
            </a:avLst>
          </a:prstGeom>
          <a:solidFill>
            <a:srgbClr val="FFFFFF"/>
          </a:solidFill>
          <a:ln w="28575">
            <a:solidFill>
              <a:srgbClr val="1E1E1E"/>
            </a:solidFill>
          </a:ln>
        </p:spPr>
        <p:txBody>
          <a:bodyPr wrap="square" lIns="152400" tIns="152400" rIns="152400" bIns="152400" rtlCol="0" anchor="t"/>
          <a:lstStyle/>
          <a:p>
            <a:pPr algn="l" indent="0" marL="0">
              <a:lnSpc>
                <a:spcPct val="105000"/>
              </a:lnSpc>
              <a:spcAft>
                <a:spcPts val="400"/>
              </a:spcAft>
              <a:buNone/>
            </a:pPr>
            <a:r>
              <a:rPr lang="en-US" sz="1200" b="1" dirty="0">
                <a:solidFill>
                  <a:srgbClr val="2F9E44"/>
                </a:solidFill>
                <a:latin typeface="Nunito" pitchFamily="34" charset="0"/>
                <a:ea typeface="Nunito" pitchFamily="34" charset="-122"/>
                <a:cs typeface="Nunito" pitchFamily="34" charset="-120"/>
              </a:rPr>
              <a:t>1958</a:t>
            </a:r>
            <a:endParaRPr lang="en-US" sz="1200" dirty="0"/>
          </a:p>
          <a:p>
            <a:pPr algn="l" indent="0" marL="0">
              <a:lnSpc>
                <a:spcPct val="105000"/>
              </a:lnSpc>
              <a:spcAft>
                <a:spcPts val="600"/>
              </a:spcAft>
              <a:buNone/>
            </a:pPr>
            <a:r>
              <a:rPr lang="en-US" sz="1700" b="1" dirty="0">
                <a:solidFill>
                  <a:srgbClr val="1E1E1E"/>
                </a:solidFill>
                <a:latin typeface="Kalam" pitchFamily="34" charset="0"/>
                <a:ea typeface="Kalam" pitchFamily="34" charset="-122"/>
                <a:cs typeface="Kalam" pitchFamily="34" charset="-120"/>
              </a:rPr>
              <a:t>Sokal y Michener</a:t>
            </a:r>
            <a:endParaRPr lang="en-US" sz="1200" dirty="0"/>
          </a:p>
          <a:p>
            <a:pPr algn="l" indent="0" marL="0">
              <a:lnSpc>
                <a:spcPct val="105000"/>
              </a:lnSpc>
              <a:buNone/>
            </a:pPr>
            <a:r>
              <a:rPr lang="en-US" sz="1200" dirty="0">
                <a:solidFill>
                  <a:srgbClr val="495057"/>
                </a:solidFill>
                <a:latin typeface="Nunito" pitchFamily="34" charset="0"/>
                <a:ea typeface="Nunito" pitchFamily="34" charset="-122"/>
                <a:cs typeface="Nunito" pitchFamily="34" charset="-120"/>
              </a:rPr>
              <a:t>Enlace average (UPGMA), estudiando abejas.</a:t>
            </a:r>
            <a:endParaRPr lang="en-US" sz="1200" dirty="0"/>
          </a:p>
        </p:txBody>
      </p:sp>
      <p:sp>
        <p:nvSpPr>
          <p:cNvPr id="8" name="Text 5"/>
          <p:cNvSpPr/>
          <p:nvPr/>
        </p:nvSpPr>
        <p:spPr>
          <a:xfrm rot="36000">
            <a:off x="8870950" y="1841500"/>
            <a:ext cx="2508250" cy="1384300"/>
          </a:xfrm>
          <a:prstGeom prst="roundRect">
            <a:avLst>
              <a:gd name="adj" fmla="val 7339"/>
            </a:avLst>
          </a:prstGeom>
          <a:solidFill>
            <a:srgbClr val="B2F2BB"/>
          </a:solidFill>
          <a:ln w="28575">
            <a:solidFill>
              <a:srgbClr val="1E1E1E"/>
            </a:solidFill>
          </a:ln>
        </p:spPr>
        <p:txBody>
          <a:bodyPr wrap="square" lIns="152400" tIns="152400" rIns="152400" bIns="152400" rtlCol="0" anchor="t"/>
          <a:lstStyle/>
          <a:p>
            <a:pPr algn="l" indent="0" marL="0">
              <a:lnSpc>
                <a:spcPct val="105000"/>
              </a:lnSpc>
              <a:spcAft>
                <a:spcPts val="400"/>
              </a:spcAft>
              <a:buNone/>
            </a:pPr>
            <a:r>
              <a:rPr lang="en-US" sz="1200" b="1" dirty="0">
                <a:solidFill>
                  <a:srgbClr val="1E1E1E"/>
                </a:solidFill>
                <a:latin typeface="Nunito" pitchFamily="34" charset="0"/>
                <a:ea typeface="Nunito" pitchFamily="34" charset="-122"/>
                <a:cs typeface="Nunito" pitchFamily="34" charset="-120"/>
              </a:rPr>
              <a:t>1963</a:t>
            </a:r>
            <a:endParaRPr lang="en-US" sz="1200" dirty="0"/>
          </a:p>
          <a:p>
            <a:pPr algn="l" indent="0" marL="0">
              <a:lnSpc>
                <a:spcPct val="105000"/>
              </a:lnSpc>
              <a:spcAft>
                <a:spcPts val="600"/>
              </a:spcAft>
              <a:buNone/>
            </a:pPr>
            <a:r>
              <a:rPr lang="en-US" sz="1700" b="1" dirty="0">
                <a:solidFill>
                  <a:srgbClr val="1E1E1E"/>
                </a:solidFill>
                <a:latin typeface="Kalam" pitchFamily="34" charset="0"/>
                <a:ea typeface="Kalam" pitchFamily="34" charset="-122"/>
                <a:cs typeface="Kalam" pitchFamily="34" charset="-120"/>
              </a:rPr>
              <a:t>Sokal y Sneath</a:t>
            </a:r>
            <a:endParaRPr lang="en-US" sz="1200" dirty="0"/>
          </a:p>
          <a:p>
            <a:pPr algn="l" indent="0" marL="0">
              <a:lnSpc>
                <a:spcPct val="105000"/>
              </a:lnSpc>
              <a:buNone/>
            </a:pPr>
            <a:r>
              <a:rPr lang="en-US" sz="1200" dirty="0">
                <a:solidFill>
                  <a:srgbClr val="1E1E1E"/>
                </a:solidFill>
                <a:latin typeface="Nunito" pitchFamily="34" charset="0"/>
                <a:ea typeface="Nunito" pitchFamily="34" charset="-122"/>
                <a:cs typeface="Nunito" pitchFamily="34" charset="-120"/>
              </a:rPr>
              <a:t>Principles of Numerical Taxonomy.</a:t>
            </a:r>
            <a:endParaRPr lang="en-US" sz="1200" dirty="0"/>
          </a:p>
        </p:txBody>
      </p:sp>
      <p:sp>
        <p:nvSpPr>
          <p:cNvPr id="9" name="Text 6"/>
          <p:cNvSpPr/>
          <p:nvPr/>
        </p:nvSpPr>
        <p:spPr>
          <a:xfrm rot="-30000">
            <a:off x="812800" y="3403600"/>
            <a:ext cx="2508250" cy="1384300"/>
          </a:xfrm>
          <a:prstGeom prst="roundRect">
            <a:avLst>
              <a:gd name="adj" fmla="val 7339"/>
            </a:avLst>
          </a:prstGeom>
          <a:solidFill>
            <a:srgbClr val="B2F2BB"/>
          </a:solidFill>
          <a:ln w="28575">
            <a:solidFill>
              <a:srgbClr val="1E1E1E"/>
            </a:solidFill>
          </a:ln>
        </p:spPr>
        <p:txBody>
          <a:bodyPr wrap="square" lIns="152400" tIns="152400" rIns="152400" bIns="152400" rtlCol="0" anchor="t"/>
          <a:lstStyle/>
          <a:p>
            <a:pPr algn="l" indent="0" marL="0">
              <a:lnSpc>
                <a:spcPct val="105000"/>
              </a:lnSpc>
              <a:spcAft>
                <a:spcPts val="400"/>
              </a:spcAft>
              <a:buNone/>
            </a:pPr>
            <a:r>
              <a:rPr lang="en-US" sz="1200" b="1" dirty="0">
                <a:solidFill>
                  <a:srgbClr val="1E1E1E"/>
                </a:solidFill>
                <a:latin typeface="Nunito" pitchFamily="34" charset="0"/>
                <a:ea typeface="Nunito" pitchFamily="34" charset="-122"/>
                <a:cs typeface="Nunito" pitchFamily="34" charset="-120"/>
              </a:rPr>
              <a:t>1963</a:t>
            </a:r>
            <a:endParaRPr lang="en-US" sz="1200" dirty="0"/>
          </a:p>
          <a:p>
            <a:pPr algn="l" indent="0" marL="0">
              <a:lnSpc>
                <a:spcPct val="105000"/>
              </a:lnSpc>
              <a:spcAft>
                <a:spcPts val="600"/>
              </a:spcAft>
              <a:buNone/>
            </a:pPr>
            <a:r>
              <a:rPr lang="en-US" sz="1700" b="1" dirty="0">
                <a:solidFill>
                  <a:srgbClr val="1E1E1E"/>
                </a:solidFill>
                <a:latin typeface="Kalam" pitchFamily="34" charset="0"/>
                <a:ea typeface="Kalam" pitchFamily="34" charset="-122"/>
                <a:cs typeface="Kalam" pitchFamily="34" charset="-120"/>
              </a:rPr>
              <a:t>Joe H. Ward Jr.</a:t>
            </a:r>
            <a:endParaRPr lang="en-US" sz="1200" dirty="0"/>
          </a:p>
          <a:p>
            <a:pPr algn="l" indent="0" marL="0">
              <a:lnSpc>
                <a:spcPct val="105000"/>
              </a:lnSpc>
              <a:buNone/>
            </a:pPr>
            <a:r>
              <a:rPr lang="en-US" sz="1200" dirty="0">
                <a:solidFill>
                  <a:srgbClr val="1E1E1E"/>
                </a:solidFill>
                <a:latin typeface="Nunito" pitchFamily="34" charset="0"/>
                <a:ea typeface="Nunito" pitchFamily="34" charset="-122"/>
                <a:cs typeface="Nunito" pitchFamily="34" charset="-120"/>
              </a:rPr>
              <a:t>Fusionar minimizando la pérdida de información.</a:t>
            </a:r>
            <a:endParaRPr lang="en-US" sz="1200" dirty="0"/>
          </a:p>
        </p:txBody>
      </p:sp>
      <p:sp>
        <p:nvSpPr>
          <p:cNvPr id="10" name="Text 7"/>
          <p:cNvSpPr/>
          <p:nvPr/>
        </p:nvSpPr>
        <p:spPr>
          <a:xfrm rot="24000">
            <a:off x="3498850" y="3403600"/>
            <a:ext cx="2508250" cy="1384300"/>
          </a:xfrm>
          <a:prstGeom prst="roundRect">
            <a:avLst>
              <a:gd name="adj" fmla="val 7339"/>
            </a:avLst>
          </a:prstGeom>
          <a:solidFill>
            <a:srgbClr val="FFFFFF"/>
          </a:solidFill>
          <a:ln w="28575">
            <a:solidFill>
              <a:srgbClr val="1E1E1E"/>
            </a:solidFill>
          </a:ln>
        </p:spPr>
        <p:txBody>
          <a:bodyPr wrap="square" lIns="152400" tIns="152400" rIns="152400" bIns="152400" rtlCol="0" anchor="t"/>
          <a:lstStyle/>
          <a:p>
            <a:pPr algn="l" indent="0" marL="0">
              <a:lnSpc>
                <a:spcPct val="105000"/>
              </a:lnSpc>
              <a:spcAft>
                <a:spcPts val="400"/>
              </a:spcAft>
              <a:buNone/>
            </a:pPr>
            <a:r>
              <a:rPr lang="en-US" sz="1200" b="1" dirty="0">
                <a:solidFill>
                  <a:srgbClr val="2F9E44"/>
                </a:solidFill>
                <a:latin typeface="Nunito" pitchFamily="34" charset="0"/>
                <a:ea typeface="Nunito" pitchFamily="34" charset="-122"/>
                <a:cs typeface="Nunito" pitchFamily="34" charset="-120"/>
              </a:rPr>
              <a:t>1967</a:t>
            </a:r>
            <a:endParaRPr lang="en-US" sz="1200" dirty="0"/>
          </a:p>
          <a:p>
            <a:pPr algn="l" indent="0" marL="0">
              <a:lnSpc>
                <a:spcPct val="105000"/>
              </a:lnSpc>
              <a:spcAft>
                <a:spcPts val="600"/>
              </a:spcAft>
              <a:buNone/>
            </a:pPr>
            <a:r>
              <a:rPr lang="en-US" sz="1700" b="1" dirty="0">
                <a:solidFill>
                  <a:srgbClr val="1E1E1E"/>
                </a:solidFill>
                <a:latin typeface="Kalam" pitchFamily="34" charset="0"/>
                <a:ea typeface="Kalam" pitchFamily="34" charset="-122"/>
                <a:cs typeface="Kalam" pitchFamily="34" charset="-120"/>
              </a:rPr>
              <a:t>Lance y Williams</a:t>
            </a:r>
            <a:endParaRPr lang="en-US" sz="1200" dirty="0"/>
          </a:p>
          <a:p>
            <a:pPr algn="l" indent="0" marL="0">
              <a:lnSpc>
                <a:spcPct val="105000"/>
              </a:lnSpc>
              <a:buNone/>
            </a:pPr>
            <a:r>
              <a:rPr lang="en-US" sz="1200" dirty="0">
                <a:solidFill>
                  <a:srgbClr val="495057"/>
                </a:solidFill>
                <a:latin typeface="Nunito" pitchFamily="34" charset="0"/>
                <a:ea typeface="Nunito" pitchFamily="34" charset="-122"/>
                <a:cs typeface="Nunito" pitchFamily="34" charset="-120"/>
              </a:rPr>
              <a:t>Una fórmula que unifica todos los enlaces.</a:t>
            </a:r>
            <a:endParaRPr lang="en-US" sz="1200" dirty="0"/>
          </a:p>
        </p:txBody>
      </p:sp>
      <p:sp>
        <p:nvSpPr>
          <p:cNvPr id="11" name="Text 8"/>
          <p:cNvSpPr/>
          <p:nvPr/>
        </p:nvSpPr>
        <p:spPr>
          <a:xfrm rot="-36000">
            <a:off x="6184900" y="3403600"/>
            <a:ext cx="2508250" cy="1384300"/>
          </a:xfrm>
          <a:prstGeom prst="roundRect">
            <a:avLst>
              <a:gd name="adj" fmla="val 7339"/>
            </a:avLst>
          </a:prstGeom>
          <a:solidFill>
            <a:srgbClr val="FFFFFF"/>
          </a:solidFill>
          <a:ln w="28575">
            <a:solidFill>
              <a:srgbClr val="1E1E1E"/>
            </a:solidFill>
          </a:ln>
        </p:spPr>
        <p:txBody>
          <a:bodyPr wrap="square" lIns="152400" tIns="152400" rIns="152400" bIns="152400" rtlCol="0" anchor="t"/>
          <a:lstStyle/>
          <a:p>
            <a:pPr algn="l" indent="0" marL="0">
              <a:lnSpc>
                <a:spcPct val="105000"/>
              </a:lnSpc>
              <a:spcAft>
                <a:spcPts val="400"/>
              </a:spcAft>
              <a:buNone/>
            </a:pPr>
            <a:r>
              <a:rPr lang="en-US" sz="1200" b="1" dirty="0">
                <a:solidFill>
                  <a:srgbClr val="2F9E44"/>
                </a:solidFill>
                <a:latin typeface="Nunito" pitchFamily="34" charset="0"/>
                <a:ea typeface="Nunito" pitchFamily="34" charset="-122"/>
                <a:cs typeface="Nunito" pitchFamily="34" charset="-120"/>
              </a:rPr>
              <a:t>1967</a:t>
            </a:r>
            <a:endParaRPr lang="en-US" sz="1200" dirty="0"/>
          </a:p>
          <a:p>
            <a:pPr algn="l" indent="0" marL="0">
              <a:lnSpc>
                <a:spcPct val="105000"/>
              </a:lnSpc>
              <a:spcAft>
                <a:spcPts val="600"/>
              </a:spcAft>
              <a:buNone/>
            </a:pPr>
            <a:r>
              <a:rPr lang="en-US" sz="1700" b="1" dirty="0">
                <a:solidFill>
                  <a:srgbClr val="1E1E1E"/>
                </a:solidFill>
                <a:latin typeface="Kalam" pitchFamily="34" charset="0"/>
                <a:ea typeface="Kalam" pitchFamily="34" charset="-122"/>
                <a:cs typeface="Kalam" pitchFamily="34" charset="-120"/>
              </a:rPr>
              <a:t>Stephen C. Johnson</a:t>
            </a:r>
            <a:endParaRPr lang="en-US" sz="1200" dirty="0"/>
          </a:p>
          <a:p>
            <a:pPr algn="l" indent="0" marL="0">
              <a:lnSpc>
                <a:spcPct val="105000"/>
              </a:lnSpc>
              <a:buNone/>
            </a:pPr>
            <a:r>
              <a:rPr lang="en-US" sz="1200" dirty="0">
                <a:solidFill>
                  <a:srgbClr val="495057"/>
                </a:solidFill>
                <a:latin typeface="Nunito" pitchFamily="34" charset="0"/>
                <a:ea typeface="Nunito" pitchFamily="34" charset="-122"/>
                <a:cs typeface="Nunito" pitchFamily="34" charset="-120"/>
              </a:rPr>
              <a:t>Dendrogramas como ultramétricas (Bell Labs).</a:t>
            </a:r>
            <a:endParaRPr lang="en-US" sz="1200" dirty="0"/>
          </a:p>
        </p:txBody>
      </p:sp>
      <p:sp>
        <p:nvSpPr>
          <p:cNvPr id="12" name="Text 9"/>
          <p:cNvSpPr/>
          <p:nvPr/>
        </p:nvSpPr>
        <p:spPr>
          <a:xfrm rot="30000">
            <a:off x="8870950" y="3403600"/>
            <a:ext cx="2508250" cy="1384300"/>
          </a:xfrm>
          <a:prstGeom prst="roundRect">
            <a:avLst>
              <a:gd name="adj" fmla="val 7339"/>
            </a:avLst>
          </a:prstGeom>
          <a:solidFill>
            <a:srgbClr val="FFFFFF"/>
          </a:solidFill>
          <a:ln w="28575">
            <a:solidFill>
              <a:srgbClr val="1E1E1E"/>
            </a:solidFill>
          </a:ln>
        </p:spPr>
        <p:txBody>
          <a:bodyPr wrap="square" lIns="152400" tIns="152400" rIns="152400" bIns="152400" rtlCol="0" anchor="t"/>
          <a:lstStyle/>
          <a:p>
            <a:pPr algn="l" indent="0" marL="0">
              <a:lnSpc>
                <a:spcPct val="105000"/>
              </a:lnSpc>
              <a:spcAft>
                <a:spcPts val="400"/>
              </a:spcAft>
              <a:buNone/>
            </a:pPr>
            <a:r>
              <a:rPr lang="en-US" sz="1200" b="1" dirty="0">
                <a:solidFill>
                  <a:srgbClr val="2F9E44"/>
                </a:solidFill>
                <a:latin typeface="Nunito" pitchFamily="34" charset="0"/>
                <a:ea typeface="Nunito" pitchFamily="34" charset="-122"/>
                <a:cs typeface="Nunito" pitchFamily="34" charset="-120"/>
              </a:rPr>
              <a:t>1990</a:t>
            </a:r>
            <a:endParaRPr lang="en-US" sz="1200" dirty="0"/>
          </a:p>
          <a:p>
            <a:pPr algn="l" indent="0" marL="0">
              <a:lnSpc>
                <a:spcPct val="105000"/>
              </a:lnSpc>
              <a:spcAft>
                <a:spcPts val="600"/>
              </a:spcAft>
              <a:buNone/>
            </a:pPr>
            <a:r>
              <a:rPr lang="en-US" sz="1700" b="1" dirty="0">
                <a:solidFill>
                  <a:srgbClr val="1E1E1E"/>
                </a:solidFill>
                <a:latin typeface="Kalam" pitchFamily="34" charset="0"/>
                <a:ea typeface="Kalam" pitchFamily="34" charset="-122"/>
                <a:cs typeface="Kalam" pitchFamily="34" charset="-120"/>
              </a:rPr>
              <a:t>Kaufman y Rousseeuw</a:t>
            </a:r>
            <a:endParaRPr lang="en-US" sz="1200" dirty="0"/>
          </a:p>
          <a:p>
            <a:pPr algn="l" indent="0" marL="0">
              <a:lnSpc>
                <a:spcPct val="105000"/>
              </a:lnSpc>
              <a:buNone/>
            </a:pPr>
            <a:r>
              <a:rPr lang="en-US" sz="1200" dirty="0">
                <a:solidFill>
                  <a:srgbClr val="495057"/>
                </a:solidFill>
                <a:latin typeface="Nunito" pitchFamily="34" charset="0"/>
                <a:ea typeface="Nunito" pitchFamily="34" charset="-122"/>
                <a:cs typeface="Nunito" pitchFamily="34" charset="-120"/>
              </a:rPr>
              <a:t>AGNES y DIANA llegan al software.</a:t>
            </a:r>
            <a:endParaRPr lang="en-US" sz="1200" dirty="0"/>
          </a:p>
        </p:txBody>
      </p:sp>
      <p:sp>
        <p:nvSpPr>
          <p:cNvPr id="13" name="Text 10"/>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11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7"/>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De la taxonomía a scikit-learn</a:t>
            </a:r>
            <a:endParaRPr lang="en-US" sz="3800" dirty="0"/>
          </a:p>
        </p:txBody>
      </p:sp>
      <p:sp>
        <p:nvSpPr>
          <p:cNvPr id="4" name="Shape 1"/>
          <p:cNvSpPr/>
          <p:nvPr/>
        </p:nvSpPr>
        <p:spPr>
          <a:xfrm>
            <a:off x="812800" y="3556000"/>
            <a:ext cx="10566400" cy="0"/>
          </a:xfrm>
          <a:prstGeom prst="line">
            <a:avLst/>
          </a:prstGeom>
          <a:noFill/>
          <a:ln w="25400">
            <a:solidFill>
              <a:srgbClr val="1E1E1E"/>
            </a:solidFill>
            <a:prstDash val="solid"/>
            <a:tailEnd type="triangle"/>
          </a:ln>
        </p:spPr>
      </p:sp>
      <p:sp>
        <p:nvSpPr>
          <p:cNvPr id="5" name="Text 2"/>
          <p:cNvSpPr txBox="1"/>
          <p:nvPr/>
        </p:nvSpPr>
        <p:spPr>
          <a:xfrm>
            <a:off x="812800" y="2794000"/>
            <a:ext cx="1244600" cy="444500"/>
          </a:xfrm>
          <a:prstGeom prst="rect">
            <a:avLst/>
          </a:prstGeom>
          <a:noFill/>
          <a:ln/>
        </p:spPr>
        <p:txBody>
          <a:bodyPr wrap="square" lIns="0" tIns="0" rIns="0" bIns="0" rtlCol="0" anchor="t"/>
          <a:lstStyle/>
          <a:p>
            <a:pPr algn="ctr" indent="0" marL="0">
              <a:lnSpc>
                <a:spcPct val="100000"/>
              </a:lnSpc>
              <a:buNone/>
            </a:pPr>
            <a:r>
              <a:rPr lang="en-US" sz="2200" b="1" dirty="0">
                <a:solidFill>
                  <a:srgbClr val="2F9E44"/>
                </a:solidFill>
                <a:latin typeface="Kalam" pitchFamily="34" charset="0"/>
                <a:ea typeface="Kalam" pitchFamily="34" charset="-122"/>
                <a:cs typeface="Kalam" pitchFamily="34" charset="-120"/>
              </a:rPr>
              <a:t>1948</a:t>
            </a:r>
            <a:endParaRPr lang="en-US" sz="2200" dirty="0"/>
          </a:p>
        </p:txBody>
      </p:sp>
      <p:sp>
        <p:nvSpPr>
          <p:cNvPr id="6" name="Shape 3"/>
          <p:cNvSpPr/>
          <p:nvPr/>
        </p:nvSpPr>
        <p:spPr>
          <a:xfrm>
            <a:off x="1333500" y="3454400"/>
            <a:ext cx="203200" cy="203200"/>
          </a:xfrm>
          <a:prstGeom prst="ellipse">
            <a:avLst/>
          </a:prstGeom>
          <a:solidFill>
            <a:srgbClr val="B2F2BB"/>
          </a:solidFill>
          <a:ln w="25400">
            <a:solidFill>
              <a:srgbClr val="1E1E1E"/>
            </a:solidFill>
            <a:prstDash val="solid"/>
          </a:ln>
        </p:spPr>
      </p:sp>
      <p:sp>
        <p:nvSpPr>
          <p:cNvPr id="7" name="Text 4"/>
          <p:cNvSpPr txBox="1"/>
          <p:nvPr/>
        </p:nvSpPr>
        <p:spPr>
          <a:xfrm>
            <a:off x="812800" y="3873500"/>
            <a:ext cx="1244600" cy="571500"/>
          </a:xfrm>
          <a:prstGeom prst="rect">
            <a:avLst/>
          </a:prstGeom>
          <a:noFill/>
          <a:ln/>
        </p:spPr>
        <p:txBody>
          <a:bodyPr wrap="square" lIns="0" tIns="0" rIns="0" bIns="0" rtlCol="0" anchor="t"/>
          <a:lstStyle/>
          <a:p>
            <a:pPr algn="ctr" indent="0" marL="0">
              <a:lnSpc>
                <a:spcPct val="110000"/>
              </a:lnSpc>
              <a:buNone/>
            </a:pPr>
            <a:r>
              <a:rPr lang="en-US" sz="1200" dirty="0">
                <a:solidFill>
                  <a:srgbClr val="1E1E1E"/>
                </a:solidFill>
                <a:latin typeface="Nunito" pitchFamily="34" charset="0"/>
                <a:ea typeface="Nunito" pitchFamily="34" charset="-122"/>
                <a:cs typeface="Nunito" pitchFamily="34" charset="-120"/>
              </a:rPr>
              <a:t>Sørensen: complete</a:t>
            </a:r>
            <a:endParaRPr lang="en-US" sz="1200" dirty="0"/>
          </a:p>
        </p:txBody>
      </p:sp>
      <p:sp>
        <p:nvSpPr>
          <p:cNvPr id="8" name="Text 5"/>
          <p:cNvSpPr txBox="1"/>
          <p:nvPr/>
        </p:nvSpPr>
        <p:spPr>
          <a:xfrm>
            <a:off x="2133600" y="2794000"/>
            <a:ext cx="1244600" cy="444500"/>
          </a:xfrm>
          <a:prstGeom prst="rect">
            <a:avLst/>
          </a:prstGeom>
          <a:noFill/>
          <a:ln/>
        </p:spPr>
        <p:txBody>
          <a:bodyPr wrap="square" lIns="0" tIns="0" rIns="0" bIns="0" rtlCol="0" anchor="t"/>
          <a:lstStyle/>
          <a:p>
            <a:pPr algn="ctr" indent="0" marL="0">
              <a:lnSpc>
                <a:spcPct val="100000"/>
              </a:lnSpc>
              <a:buNone/>
            </a:pPr>
            <a:r>
              <a:rPr lang="en-US" sz="2200" b="1" dirty="0">
                <a:solidFill>
                  <a:srgbClr val="2F9E44"/>
                </a:solidFill>
                <a:latin typeface="Kalam" pitchFamily="34" charset="0"/>
                <a:ea typeface="Kalam" pitchFamily="34" charset="-122"/>
                <a:cs typeface="Kalam" pitchFamily="34" charset="-120"/>
              </a:rPr>
              <a:t>1951</a:t>
            </a:r>
            <a:endParaRPr lang="en-US" sz="2200" dirty="0"/>
          </a:p>
        </p:txBody>
      </p:sp>
      <p:sp>
        <p:nvSpPr>
          <p:cNvPr id="9" name="Shape 6"/>
          <p:cNvSpPr/>
          <p:nvPr/>
        </p:nvSpPr>
        <p:spPr>
          <a:xfrm>
            <a:off x="2654300" y="3454400"/>
            <a:ext cx="203200" cy="203200"/>
          </a:xfrm>
          <a:prstGeom prst="ellipse">
            <a:avLst/>
          </a:prstGeom>
          <a:solidFill>
            <a:srgbClr val="B2F2BB"/>
          </a:solidFill>
          <a:ln w="25400">
            <a:solidFill>
              <a:srgbClr val="1E1E1E"/>
            </a:solidFill>
            <a:prstDash val="solid"/>
          </a:ln>
        </p:spPr>
      </p:sp>
      <p:sp>
        <p:nvSpPr>
          <p:cNvPr id="10" name="Text 7"/>
          <p:cNvSpPr txBox="1"/>
          <p:nvPr/>
        </p:nvSpPr>
        <p:spPr>
          <a:xfrm>
            <a:off x="2133600" y="3873500"/>
            <a:ext cx="1244600" cy="571500"/>
          </a:xfrm>
          <a:prstGeom prst="rect">
            <a:avLst/>
          </a:prstGeom>
          <a:noFill/>
          <a:ln/>
        </p:spPr>
        <p:txBody>
          <a:bodyPr wrap="square" lIns="0" tIns="0" rIns="0" bIns="0" rtlCol="0" anchor="t"/>
          <a:lstStyle/>
          <a:p>
            <a:pPr algn="ctr" indent="0" marL="0">
              <a:lnSpc>
                <a:spcPct val="110000"/>
              </a:lnSpc>
              <a:buNone/>
            </a:pPr>
            <a:r>
              <a:rPr lang="en-US" sz="1200" dirty="0">
                <a:solidFill>
                  <a:srgbClr val="1E1E1E"/>
                </a:solidFill>
                <a:latin typeface="Nunito" pitchFamily="34" charset="0"/>
                <a:ea typeface="Nunito" pitchFamily="34" charset="-122"/>
                <a:cs typeface="Nunito" pitchFamily="34" charset="-120"/>
              </a:rPr>
              <a:t>Florek y otros: single</a:t>
            </a:r>
            <a:endParaRPr lang="en-US" sz="1200" dirty="0"/>
          </a:p>
        </p:txBody>
      </p:sp>
      <p:sp>
        <p:nvSpPr>
          <p:cNvPr id="11" name="Text 8"/>
          <p:cNvSpPr txBox="1"/>
          <p:nvPr/>
        </p:nvSpPr>
        <p:spPr>
          <a:xfrm>
            <a:off x="3454400" y="2794000"/>
            <a:ext cx="1244600" cy="444500"/>
          </a:xfrm>
          <a:prstGeom prst="rect">
            <a:avLst/>
          </a:prstGeom>
          <a:noFill/>
          <a:ln/>
        </p:spPr>
        <p:txBody>
          <a:bodyPr wrap="square" lIns="0" tIns="0" rIns="0" bIns="0" rtlCol="0" anchor="t"/>
          <a:lstStyle/>
          <a:p>
            <a:pPr algn="ctr" indent="0" marL="0">
              <a:lnSpc>
                <a:spcPct val="100000"/>
              </a:lnSpc>
              <a:buNone/>
            </a:pPr>
            <a:r>
              <a:rPr lang="en-US" sz="2200" b="1" dirty="0">
                <a:solidFill>
                  <a:srgbClr val="2F9E44"/>
                </a:solidFill>
                <a:latin typeface="Kalam" pitchFamily="34" charset="0"/>
                <a:ea typeface="Kalam" pitchFamily="34" charset="-122"/>
                <a:cs typeface="Kalam" pitchFamily="34" charset="-120"/>
              </a:rPr>
              <a:t>1958</a:t>
            </a:r>
            <a:endParaRPr lang="en-US" sz="2200" dirty="0"/>
          </a:p>
        </p:txBody>
      </p:sp>
      <p:sp>
        <p:nvSpPr>
          <p:cNvPr id="12" name="Shape 9"/>
          <p:cNvSpPr/>
          <p:nvPr/>
        </p:nvSpPr>
        <p:spPr>
          <a:xfrm>
            <a:off x="3975100" y="3454400"/>
            <a:ext cx="203200" cy="203200"/>
          </a:xfrm>
          <a:prstGeom prst="ellipse">
            <a:avLst/>
          </a:prstGeom>
          <a:solidFill>
            <a:srgbClr val="B2F2BB"/>
          </a:solidFill>
          <a:ln w="25400">
            <a:solidFill>
              <a:srgbClr val="1E1E1E"/>
            </a:solidFill>
            <a:prstDash val="solid"/>
          </a:ln>
        </p:spPr>
      </p:sp>
      <p:sp>
        <p:nvSpPr>
          <p:cNvPr id="13" name="Text 10"/>
          <p:cNvSpPr txBox="1"/>
          <p:nvPr/>
        </p:nvSpPr>
        <p:spPr>
          <a:xfrm>
            <a:off x="3454400" y="3873500"/>
            <a:ext cx="1244600" cy="571500"/>
          </a:xfrm>
          <a:prstGeom prst="rect">
            <a:avLst/>
          </a:prstGeom>
          <a:noFill/>
          <a:ln/>
        </p:spPr>
        <p:txBody>
          <a:bodyPr wrap="square" lIns="0" tIns="0" rIns="0" bIns="0" rtlCol="0" anchor="t"/>
          <a:lstStyle/>
          <a:p>
            <a:pPr algn="ctr" indent="0" marL="0">
              <a:lnSpc>
                <a:spcPct val="110000"/>
              </a:lnSpc>
              <a:buNone/>
            </a:pPr>
            <a:r>
              <a:rPr lang="en-US" sz="1200" dirty="0">
                <a:solidFill>
                  <a:srgbClr val="1E1E1E"/>
                </a:solidFill>
                <a:latin typeface="Nunito" pitchFamily="34" charset="0"/>
                <a:ea typeface="Nunito" pitchFamily="34" charset="-122"/>
                <a:cs typeface="Nunito" pitchFamily="34" charset="-120"/>
              </a:rPr>
              <a:t>Sokal y Michener: UPGMA</a:t>
            </a:r>
            <a:endParaRPr lang="en-US" sz="1200" dirty="0"/>
          </a:p>
        </p:txBody>
      </p:sp>
      <p:sp>
        <p:nvSpPr>
          <p:cNvPr id="14" name="Text 11"/>
          <p:cNvSpPr txBox="1"/>
          <p:nvPr/>
        </p:nvSpPr>
        <p:spPr>
          <a:xfrm>
            <a:off x="4775200" y="2794000"/>
            <a:ext cx="1244600" cy="444500"/>
          </a:xfrm>
          <a:prstGeom prst="rect">
            <a:avLst/>
          </a:prstGeom>
          <a:noFill/>
          <a:ln/>
        </p:spPr>
        <p:txBody>
          <a:bodyPr wrap="square" lIns="0" tIns="0" rIns="0" bIns="0" rtlCol="0" anchor="t"/>
          <a:lstStyle/>
          <a:p>
            <a:pPr algn="ctr" indent="0" marL="0">
              <a:lnSpc>
                <a:spcPct val="100000"/>
              </a:lnSpc>
              <a:buNone/>
            </a:pPr>
            <a:r>
              <a:rPr lang="en-US" sz="2200" b="1" dirty="0">
                <a:solidFill>
                  <a:srgbClr val="1971C2"/>
                </a:solidFill>
                <a:latin typeface="Kalam" pitchFamily="34" charset="0"/>
                <a:ea typeface="Kalam" pitchFamily="34" charset="-122"/>
                <a:cs typeface="Kalam" pitchFamily="34" charset="-120"/>
              </a:rPr>
              <a:t>1963</a:t>
            </a:r>
            <a:endParaRPr lang="en-US" sz="2200" dirty="0"/>
          </a:p>
        </p:txBody>
      </p:sp>
      <p:sp>
        <p:nvSpPr>
          <p:cNvPr id="15" name="Shape 12"/>
          <p:cNvSpPr/>
          <p:nvPr/>
        </p:nvSpPr>
        <p:spPr>
          <a:xfrm>
            <a:off x="5295900" y="3454400"/>
            <a:ext cx="203200" cy="203200"/>
          </a:xfrm>
          <a:prstGeom prst="ellipse">
            <a:avLst/>
          </a:prstGeom>
          <a:solidFill>
            <a:srgbClr val="A5D8FF"/>
          </a:solidFill>
          <a:ln w="25400">
            <a:solidFill>
              <a:srgbClr val="1E1E1E"/>
            </a:solidFill>
            <a:prstDash val="solid"/>
          </a:ln>
        </p:spPr>
      </p:sp>
      <p:sp>
        <p:nvSpPr>
          <p:cNvPr id="16" name="Text 13"/>
          <p:cNvSpPr txBox="1"/>
          <p:nvPr/>
        </p:nvSpPr>
        <p:spPr>
          <a:xfrm>
            <a:off x="4775200" y="3873500"/>
            <a:ext cx="1244600" cy="571500"/>
          </a:xfrm>
          <a:prstGeom prst="rect">
            <a:avLst/>
          </a:prstGeom>
          <a:noFill/>
          <a:ln/>
        </p:spPr>
        <p:txBody>
          <a:bodyPr wrap="square" lIns="0" tIns="0" rIns="0" bIns="0" rtlCol="0" anchor="t"/>
          <a:lstStyle/>
          <a:p>
            <a:pPr algn="ctr" indent="0" marL="0">
              <a:lnSpc>
                <a:spcPct val="110000"/>
              </a:lnSpc>
              <a:buNone/>
            </a:pPr>
            <a:r>
              <a:rPr lang="en-US" sz="1200" dirty="0">
                <a:solidFill>
                  <a:srgbClr val="1E1E1E"/>
                </a:solidFill>
                <a:latin typeface="Nunito" pitchFamily="34" charset="0"/>
                <a:ea typeface="Nunito" pitchFamily="34" charset="-122"/>
                <a:cs typeface="Nunito" pitchFamily="34" charset="-120"/>
              </a:rPr>
              <a:t>Ward; Numerical Taxonomy</a:t>
            </a:r>
            <a:endParaRPr lang="en-US" sz="1200" dirty="0"/>
          </a:p>
        </p:txBody>
      </p:sp>
      <p:sp>
        <p:nvSpPr>
          <p:cNvPr id="17" name="Text 14"/>
          <p:cNvSpPr txBox="1"/>
          <p:nvPr/>
        </p:nvSpPr>
        <p:spPr>
          <a:xfrm>
            <a:off x="6096000" y="2794000"/>
            <a:ext cx="1244600" cy="444500"/>
          </a:xfrm>
          <a:prstGeom prst="rect">
            <a:avLst/>
          </a:prstGeom>
          <a:noFill/>
          <a:ln/>
        </p:spPr>
        <p:txBody>
          <a:bodyPr wrap="square" lIns="0" tIns="0" rIns="0" bIns="0" rtlCol="0" anchor="t"/>
          <a:lstStyle/>
          <a:p>
            <a:pPr algn="ctr" indent="0" marL="0">
              <a:lnSpc>
                <a:spcPct val="100000"/>
              </a:lnSpc>
              <a:buNone/>
            </a:pPr>
            <a:r>
              <a:rPr lang="en-US" sz="2200" b="1" dirty="0">
                <a:solidFill>
                  <a:srgbClr val="1971C2"/>
                </a:solidFill>
                <a:latin typeface="Kalam" pitchFamily="34" charset="0"/>
                <a:ea typeface="Kalam" pitchFamily="34" charset="-122"/>
                <a:cs typeface="Kalam" pitchFamily="34" charset="-120"/>
              </a:rPr>
              <a:t>1967</a:t>
            </a:r>
            <a:endParaRPr lang="en-US" sz="2200" dirty="0"/>
          </a:p>
        </p:txBody>
      </p:sp>
      <p:sp>
        <p:nvSpPr>
          <p:cNvPr id="18" name="Shape 15"/>
          <p:cNvSpPr/>
          <p:nvPr/>
        </p:nvSpPr>
        <p:spPr>
          <a:xfrm>
            <a:off x="6616700" y="3454400"/>
            <a:ext cx="203200" cy="203200"/>
          </a:xfrm>
          <a:prstGeom prst="ellipse">
            <a:avLst/>
          </a:prstGeom>
          <a:solidFill>
            <a:srgbClr val="A5D8FF"/>
          </a:solidFill>
          <a:ln w="25400">
            <a:solidFill>
              <a:srgbClr val="1E1E1E"/>
            </a:solidFill>
            <a:prstDash val="solid"/>
          </a:ln>
        </p:spPr>
      </p:sp>
      <p:sp>
        <p:nvSpPr>
          <p:cNvPr id="19" name="Text 16"/>
          <p:cNvSpPr txBox="1"/>
          <p:nvPr/>
        </p:nvSpPr>
        <p:spPr>
          <a:xfrm>
            <a:off x="6096000" y="3873500"/>
            <a:ext cx="1244600" cy="571500"/>
          </a:xfrm>
          <a:prstGeom prst="rect">
            <a:avLst/>
          </a:prstGeom>
          <a:noFill/>
          <a:ln/>
        </p:spPr>
        <p:txBody>
          <a:bodyPr wrap="square" lIns="0" tIns="0" rIns="0" bIns="0" rtlCol="0" anchor="t"/>
          <a:lstStyle/>
          <a:p>
            <a:pPr algn="ctr" indent="0" marL="0">
              <a:lnSpc>
                <a:spcPct val="110000"/>
              </a:lnSpc>
              <a:buNone/>
            </a:pPr>
            <a:r>
              <a:rPr lang="en-US" sz="1200" dirty="0">
                <a:solidFill>
                  <a:srgbClr val="1E1E1E"/>
                </a:solidFill>
                <a:latin typeface="Nunito" pitchFamily="34" charset="0"/>
                <a:ea typeface="Nunito" pitchFamily="34" charset="-122"/>
                <a:cs typeface="Nunito" pitchFamily="34" charset="-120"/>
              </a:rPr>
              <a:t>Lance–Williams; Johnson</a:t>
            </a:r>
            <a:endParaRPr lang="en-US" sz="1200" dirty="0"/>
          </a:p>
        </p:txBody>
      </p:sp>
      <p:sp>
        <p:nvSpPr>
          <p:cNvPr id="20" name="Text 17"/>
          <p:cNvSpPr txBox="1"/>
          <p:nvPr/>
        </p:nvSpPr>
        <p:spPr>
          <a:xfrm>
            <a:off x="7416800" y="2794000"/>
            <a:ext cx="1244600" cy="444500"/>
          </a:xfrm>
          <a:prstGeom prst="rect">
            <a:avLst/>
          </a:prstGeom>
          <a:noFill/>
          <a:ln/>
        </p:spPr>
        <p:txBody>
          <a:bodyPr wrap="square" lIns="0" tIns="0" rIns="0" bIns="0" rtlCol="0" anchor="t"/>
          <a:lstStyle/>
          <a:p>
            <a:pPr algn="ctr" indent="0" marL="0">
              <a:lnSpc>
                <a:spcPct val="100000"/>
              </a:lnSpc>
              <a:buNone/>
            </a:pPr>
            <a:r>
              <a:rPr lang="en-US" sz="2200" b="1" dirty="0">
                <a:solidFill>
                  <a:srgbClr val="E8590C"/>
                </a:solidFill>
                <a:latin typeface="Kalam" pitchFamily="34" charset="0"/>
                <a:ea typeface="Kalam" pitchFamily="34" charset="-122"/>
                <a:cs typeface="Kalam" pitchFamily="34" charset="-120"/>
              </a:rPr>
              <a:t>1973</a:t>
            </a:r>
            <a:endParaRPr lang="en-US" sz="2200" dirty="0"/>
          </a:p>
        </p:txBody>
      </p:sp>
      <p:sp>
        <p:nvSpPr>
          <p:cNvPr id="21" name="Shape 18"/>
          <p:cNvSpPr/>
          <p:nvPr/>
        </p:nvSpPr>
        <p:spPr>
          <a:xfrm>
            <a:off x="7937500" y="3454400"/>
            <a:ext cx="203200" cy="203200"/>
          </a:xfrm>
          <a:prstGeom prst="ellipse">
            <a:avLst/>
          </a:prstGeom>
          <a:solidFill>
            <a:srgbClr val="FFD8A8"/>
          </a:solidFill>
          <a:ln w="25400">
            <a:solidFill>
              <a:srgbClr val="1E1E1E"/>
            </a:solidFill>
            <a:prstDash val="solid"/>
          </a:ln>
        </p:spPr>
      </p:sp>
      <p:sp>
        <p:nvSpPr>
          <p:cNvPr id="22" name="Text 19"/>
          <p:cNvSpPr txBox="1"/>
          <p:nvPr/>
        </p:nvSpPr>
        <p:spPr>
          <a:xfrm>
            <a:off x="7416800" y="3873500"/>
            <a:ext cx="1244600" cy="571500"/>
          </a:xfrm>
          <a:prstGeom prst="rect">
            <a:avLst/>
          </a:prstGeom>
          <a:noFill/>
          <a:ln/>
        </p:spPr>
        <p:txBody>
          <a:bodyPr wrap="square" lIns="0" tIns="0" rIns="0" bIns="0" rtlCol="0" anchor="t"/>
          <a:lstStyle/>
          <a:p>
            <a:pPr algn="ctr" indent="0" marL="0">
              <a:lnSpc>
                <a:spcPct val="110000"/>
              </a:lnSpc>
              <a:buNone/>
            </a:pPr>
            <a:r>
              <a:rPr lang="en-US" sz="1200" dirty="0">
                <a:solidFill>
                  <a:srgbClr val="1E1E1E"/>
                </a:solidFill>
                <a:latin typeface="Nunito" pitchFamily="34" charset="0"/>
                <a:ea typeface="Nunito" pitchFamily="34" charset="-122"/>
                <a:cs typeface="Nunito" pitchFamily="34" charset="-120"/>
              </a:rPr>
              <a:t>Sibson: SLINK en O(n²)</a:t>
            </a:r>
            <a:endParaRPr lang="en-US" sz="1200" dirty="0"/>
          </a:p>
        </p:txBody>
      </p:sp>
      <p:sp>
        <p:nvSpPr>
          <p:cNvPr id="23" name="Text 20"/>
          <p:cNvSpPr txBox="1"/>
          <p:nvPr/>
        </p:nvSpPr>
        <p:spPr>
          <a:xfrm>
            <a:off x="8737600" y="2794000"/>
            <a:ext cx="1244600" cy="444500"/>
          </a:xfrm>
          <a:prstGeom prst="rect">
            <a:avLst/>
          </a:prstGeom>
          <a:noFill/>
          <a:ln/>
        </p:spPr>
        <p:txBody>
          <a:bodyPr wrap="square" lIns="0" tIns="0" rIns="0" bIns="0" rtlCol="0" anchor="t"/>
          <a:lstStyle/>
          <a:p>
            <a:pPr algn="ctr" indent="0" marL="0">
              <a:lnSpc>
                <a:spcPct val="100000"/>
              </a:lnSpc>
              <a:buNone/>
            </a:pPr>
            <a:r>
              <a:rPr lang="en-US" sz="2200" b="1" dirty="0">
                <a:solidFill>
                  <a:srgbClr val="E8590C"/>
                </a:solidFill>
                <a:latin typeface="Kalam" pitchFamily="34" charset="0"/>
                <a:ea typeface="Kalam" pitchFamily="34" charset="-122"/>
                <a:cs typeface="Kalam" pitchFamily="34" charset="-120"/>
              </a:rPr>
              <a:t>1990</a:t>
            </a:r>
            <a:endParaRPr lang="en-US" sz="2200" dirty="0"/>
          </a:p>
        </p:txBody>
      </p:sp>
      <p:sp>
        <p:nvSpPr>
          <p:cNvPr id="24" name="Shape 21"/>
          <p:cNvSpPr/>
          <p:nvPr/>
        </p:nvSpPr>
        <p:spPr>
          <a:xfrm>
            <a:off x="9258300" y="3454400"/>
            <a:ext cx="203200" cy="203200"/>
          </a:xfrm>
          <a:prstGeom prst="ellipse">
            <a:avLst/>
          </a:prstGeom>
          <a:solidFill>
            <a:srgbClr val="FFD8A8"/>
          </a:solidFill>
          <a:ln w="25400">
            <a:solidFill>
              <a:srgbClr val="1E1E1E"/>
            </a:solidFill>
            <a:prstDash val="solid"/>
          </a:ln>
        </p:spPr>
      </p:sp>
      <p:sp>
        <p:nvSpPr>
          <p:cNvPr id="25" name="Text 22"/>
          <p:cNvSpPr txBox="1"/>
          <p:nvPr/>
        </p:nvSpPr>
        <p:spPr>
          <a:xfrm>
            <a:off x="8737600" y="3873500"/>
            <a:ext cx="1244600" cy="571500"/>
          </a:xfrm>
          <a:prstGeom prst="rect">
            <a:avLst/>
          </a:prstGeom>
          <a:noFill/>
          <a:ln/>
        </p:spPr>
        <p:txBody>
          <a:bodyPr wrap="square" lIns="0" tIns="0" rIns="0" bIns="0" rtlCol="0" anchor="t"/>
          <a:lstStyle/>
          <a:p>
            <a:pPr algn="ctr" indent="0" marL="0">
              <a:lnSpc>
                <a:spcPct val="110000"/>
              </a:lnSpc>
              <a:buNone/>
            </a:pPr>
            <a:r>
              <a:rPr lang="en-US" sz="1200" dirty="0">
                <a:solidFill>
                  <a:srgbClr val="1E1E1E"/>
                </a:solidFill>
                <a:latin typeface="Nunito" pitchFamily="34" charset="0"/>
                <a:ea typeface="Nunito" pitchFamily="34" charset="-122"/>
                <a:cs typeface="Nunito" pitchFamily="34" charset="-120"/>
              </a:rPr>
              <a:t>AGNES y DIANA</a:t>
            </a:r>
            <a:endParaRPr lang="en-US" sz="1200" dirty="0"/>
          </a:p>
        </p:txBody>
      </p:sp>
      <p:sp>
        <p:nvSpPr>
          <p:cNvPr id="26" name="Text 23"/>
          <p:cNvSpPr txBox="1"/>
          <p:nvPr/>
        </p:nvSpPr>
        <p:spPr>
          <a:xfrm>
            <a:off x="9969500" y="2794000"/>
            <a:ext cx="1244600" cy="444500"/>
          </a:xfrm>
          <a:prstGeom prst="rect">
            <a:avLst/>
          </a:prstGeom>
          <a:noFill/>
          <a:ln/>
        </p:spPr>
        <p:txBody>
          <a:bodyPr wrap="square" lIns="0" tIns="0" rIns="0" bIns="0" rtlCol="0" anchor="t"/>
          <a:lstStyle/>
          <a:p>
            <a:pPr algn="ctr" indent="0" marL="0">
              <a:lnSpc>
                <a:spcPct val="100000"/>
              </a:lnSpc>
              <a:buNone/>
            </a:pPr>
            <a:r>
              <a:rPr lang="en-US" sz="2200" b="1" dirty="0">
                <a:solidFill>
                  <a:srgbClr val="6741D9"/>
                </a:solidFill>
                <a:latin typeface="Kalam" pitchFamily="34" charset="0"/>
                <a:ea typeface="Kalam" pitchFamily="34" charset="-122"/>
                <a:cs typeface="Kalam" pitchFamily="34" charset="-120"/>
              </a:rPr>
              <a:t>2013</a:t>
            </a:r>
            <a:endParaRPr lang="en-US" sz="2200" dirty="0"/>
          </a:p>
        </p:txBody>
      </p:sp>
      <p:sp>
        <p:nvSpPr>
          <p:cNvPr id="27" name="Shape 24"/>
          <p:cNvSpPr/>
          <p:nvPr/>
        </p:nvSpPr>
        <p:spPr>
          <a:xfrm>
            <a:off x="10490200" y="3454400"/>
            <a:ext cx="203200" cy="203200"/>
          </a:xfrm>
          <a:prstGeom prst="ellipse">
            <a:avLst/>
          </a:prstGeom>
          <a:solidFill>
            <a:srgbClr val="D0BFFF"/>
          </a:solidFill>
          <a:ln w="25400">
            <a:solidFill>
              <a:srgbClr val="1E1E1E"/>
            </a:solidFill>
            <a:prstDash val="solid"/>
          </a:ln>
        </p:spPr>
      </p:sp>
      <p:sp>
        <p:nvSpPr>
          <p:cNvPr id="28" name="Text 25"/>
          <p:cNvSpPr txBox="1"/>
          <p:nvPr/>
        </p:nvSpPr>
        <p:spPr>
          <a:xfrm>
            <a:off x="9969500" y="3873500"/>
            <a:ext cx="1244600" cy="571500"/>
          </a:xfrm>
          <a:prstGeom prst="rect">
            <a:avLst/>
          </a:prstGeom>
          <a:noFill/>
          <a:ln/>
        </p:spPr>
        <p:txBody>
          <a:bodyPr wrap="square" lIns="0" tIns="0" rIns="0" bIns="0" rtlCol="0" anchor="t"/>
          <a:lstStyle/>
          <a:p>
            <a:pPr algn="ctr" indent="0" marL="0">
              <a:lnSpc>
                <a:spcPct val="110000"/>
              </a:lnSpc>
              <a:buNone/>
            </a:pPr>
            <a:r>
              <a:rPr lang="en-US" sz="1200" dirty="0">
                <a:solidFill>
                  <a:srgbClr val="1E1E1E"/>
                </a:solidFill>
                <a:latin typeface="Nunito" pitchFamily="34" charset="0"/>
                <a:ea typeface="Nunito" pitchFamily="34" charset="-122"/>
                <a:cs typeface="Nunito" pitchFamily="34" charset="-120"/>
              </a:rPr>
              <a:t>HDBSCAN, el heredero</a:t>
            </a:r>
            <a:endParaRPr lang="en-US" sz="1200" dirty="0"/>
          </a:p>
        </p:txBody>
      </p:sp>
      <p:sp>
        <p:nvSpPr>
          <p:cNvPr id="29" name="Text 26"/>
          <p:cNvSpPr txBox="1"/>
          <p:nvPr/>
        </p:nvSpPr>
        <p:spPr>
          <a:xfrm>
            <a:off x="812800" y="5080000"/>
            <a:ext cx="10566400" cy="279400"/>
          </a:xfrm>
          <a:prstGeom prst="rect">
            <a:avLst/>
          </a:prstGeom>
          <a:noFill/>
          <a:ln/>
        </p:spPr>
        <p:txBody>
          <a:bodyPr wrap="square" lIns="0" tIns="0" rIns="0" bIns="0" rtlCol="0" anchor="t"/>
          <a:lstStyle/>
          <a:p>
            <a:pPr algn="l" indent="0" marL="0">
              <a:lnSpc>
                <a:spcPct val="100000"/>
              </a:lnSpc>
              <a:buNone/>
            </a:pPr>
            <a:r>
              <a:rPr lang="en-US" sz="1400" dirty="0">
                <a:solidFill>
                  <a:srgbClr val="495057"/>
                </a:solidFill>
                <a:latin typeface="Nunito" pitchFamily="34" charset="0"/>
                <a:ea typeface="Nunito" pitchFamily="34" charset="-122"/>
                <a:cs typeface="Nunito" pitchFamily="34" charset="-120"/>
              </a:rPr>
              <a:t>Métodos · Teoría · Algoritmos eficientes · Hoy. Diagrama 8 en </a:t>
            </a:r>
            <a:pPr algn="l" indent="0" marL="0">
              <a:lnSpc>
                <a:spcPct val="100000"/>
              </a:lnSpc>
              <a:buNone/>
            </a:pPr>
            <a:r>
              <a:rPr lang="en-US" sz="1400" u="sng" dirty="0">
                <a:solidFill>
                  <a:srgbClr val="1971C2"/>
                </a:solidFill>
                <a:latin typeface="Nunito" pitchFamily="34" charset="0"/>
                <a:ea typeface="Nunito" pitchFamily="34" charset="-122"/>
                <a:cs typeface="Nuni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docs/diagramas.md</a:t>
            </a:r>
            <a:endParaRPr lang="en-US" sz="1400" dirty="0"/>
          </a:p>
        </p:txBody>
      </p:sp>
      <p:sp>
        <p:nvSpPr>
          <p:cNvPr id="30" name="Text 27"/>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12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7"/>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algn="l" indent="0" marL="0">
              <a:lnSpc>
                <a:spcPct val="100000"/>
              </a:lnSpc>
              <a:buNone/>
            </a:pPr>
            <a:r>
              <a:rPr lang="en-US" sz="1200" b="1" spc="200" kern="0" dirty="0">
                <a:solidFill>
                  <a:srgbClr val="6741D9"/>
                </a:solidFill>
                <a:latin typeface="Nunito" pitchFamily="34" charset="0"/>
                <a:ea typeface="Nunito" pitchFamily="34" charset="-122"/>
                <a:cs typeface="Nunito" pitchFamily="34" charset="-120"/>
              </a:rPr>
              <a:t>EN LA PRÁCTICA</a:t>
            </a:r>
            <a:endParaRPr lang="en-US" sz="1200" dirty="0"/>
          </a:p>
        </p:txBody>
      </p:sp>
      <p:sp>
        <p:nvSpPr>
          <p:cNvPr id="4" name="Text 1"/>
          <p:cNvSpPr txBox="1"/>
          <p:nvPr/>
        </p:nvSpPr>
        <p:spPr>
          <a:xfrm>
            <a:off x="812800" y="10795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El flujo del notebook</a:t>
            </a:r>
            <a:endParaRPr lang="en-US" sz="3800" dirty="0"/>
          </a:p>
        </p:txBody>
      </p:sp>
      <p:sp>
        <p:nvSpPr>
          <p:cNvPr id="5" name="Text 2"/>
          <p:cNvSpPr/>
          <p:nvPr/>
        </p:nvSpPr>
        <p:spPr>
          <a:xfrm>
            <a:off x="812800" y="1905000"/>
            <a:ext cx="2527300" cy="838200"/>
          </a:xfrm>
          <a:prstGeom prst="roundRect">
            <a:avLst>
              <a:gd name="adj" fmla="val 10606"/>
            </a:avLst>
          </a:prstGeom>
          <a:solidFill>
            <a:srgbClr val="D0BFFF"/>
          </a:solidFill>
          <a:ln w="28575">
            <a:solidFill>
              <a:srgbClr val="1E1E1E"/>
            </a:solidFill>
          </a:ln>
        </p:spPr>
        <p:txBody>
          <a:bodyPr wrap="square" lIns="139700" tIns="139700" rIns="139700" bIns="139700" rtlCol="0" anchor="t"/>
          <a:lstStyle/>
          <a:p>
            <a:pPr algn="l" indent="0" marL="0">
              <a:lnSpc>
                <a:spcPct val="105000"/>
              </a:lnSpc>
              <a:spcAft>
                <a:spcPts val="200"/>
              </a:spcAft>
              <a:buNone/>
            </a:pPr>
            <a:r>
              <a:rPr lang="en-US" sz="1800" b="1" dirty="0">
                <a:solidFill>
                  <a:srgbClr val="1E1E1E"/>
                </a:solidFill>
                <a:latin typeface="Kalam" pitchFamily="34" charset="0"/>
                <a:ea typeface="Kalam" pitchFamily="34" charset="-122"/>
                <a:cs typeface="Kalam" pitchFamily="34" charset="-120"/>
              </a:rPr>
              <a:t>1 · Datos</a:t>
            </a:r>
            <a:endParaRPr lang="en-US" sz="1800" dirty="0"/>
          </a:p>
          <a:p>
            <a:pPr algn="l" indent="0" marL="0">
              <a:lnSpc>
                <a:spcPct val="105000"/>
              </a:lnSpc>
              <a:buNone/>
            </a:pPr>
            <a:r>
              <a:rPr lang="en-US" sz="1200" dirty="0">
                <a:solidFill>
                  <a:srgbClr val="1E1E1E"/>
                </a:solidFill>
                <a:latin typeface="Nunito" pitchFamily="34" charset="0"/>
                <a:ea typeface="Nunito" pitchFamily="34" charset="-122"/>
                <a:cs typeface="Nunito" pitchFamily="34" charset="-120"/>
              </a:rPr>
              <a:t>make_blobs, 150 puntos</a:t>
            </a:r>
            <a:endParaRPr lang="en-US" sz="1800" dirty="0"/>
          </a:p>
        </p:txBody>
      </p:sp>
      <p:sp>
        <p:nvSpPr>
          <p:cNvPr id="6" name="Text 3"/>
          <p:cNvSpPr/>
          <p:nvPr/>
        </p:nvSpPr>
        <p:spPr>
          <a:xfrm>
            <a:off x="3492500" y="1905000"/>
            <a:ext cx="2527300" cy="838200"/>
          </a:xfrm>
          <a:prstGeom prst="roundRect">
            <a:avLst>
              <a:gd name="adj" fmla="val 10606"/>
            </a:avLst>
          </a:prstGeom>
          <a:solidFill>
            <a:srgbClr val="D0BFFF"/>
          </a:solidFill>
          <a:ln w="28575">
            <a:solidFill>
              <a:srgbClr val="1E1E1E"/>
            </a:solidFill>
          </a:ln>
        </p:spPr>
        <p:txBody>
          <a:bodyPr wrap="square" lIns="139700" tIns="139700" rIns="139700" bIns="139700" rtlCol="0" anchor="t"/>
          <a:lstStyle/>
          <a:p>
            <a:pPr algn="l" indent="0" marL="0">
              <a:lnSpc>
                <a:spcPct val="105000"/>
              </a:lnSpc>
              <a:spcAft>
                <a:spcPts val="200"/>
              </a:spcAft>
              <a:buNone/>
            </a:pPr>
            <a:r>
              <a:rPr lang="en-US" sz="1800" b="1" dirty="0">
                <a:solidFill>
                  <a:srgbClr val="1E1E1E"/>
                </a:solidFill>
                <a:latin typeface="Kalam" pitchFamily="34" charset="0"/>
                <a:ea typeface="Kalam" pitchFamily="34" charset="-122"/>
                <a:cs typeface="Kalam" pitchFamily="34" charset="-120"/>
              </a:rPr>
              <a:t>2 · Escalar</a:t>
            </a:r>
            <a:endParaRPr lang="en-US" sz="1800" dirty="0"/>
          </a:p>
          <a:p>
            <a:pPr algn="l" indent="0" marL="0">
              <a:lnSpc>
                <a:spcPct val="105000"/>
              </a:lnSpc>
              <a:buNone/>
            </a:pPr>
            <a:r>
              <a:rPr lang="en-US" sz="1200" dirty="0">
                <a:solidFill>
                  <a:srgbClr val="1E1E1E"/>
                </a:solidFill>
                <a:latin typeface="Nunito" pitchFamily="34" charset="0"/>
                <a:ea typeface="Nunito" pitchFamily="34" charset="-122"/>
                <a:cs typeface="Nunito" pitchFamily="34" charset="-120"/>
              </a:rPr>
              <a:t>StandardScaler</a:t>
            </a:r>
            <a:endParaRPr lang="en-US" sz="1800" dirty="0"/>
          </a:p>
        </p:txBody>
      </p:sp>
      <p:sp>
        <p:nvSpPr>
          <p:cNvPr id="7" name="Text 4"/>
          <p:cNvSpPr/>
          <p:nvPr/>
        </p:nvSpPr>
        <p:spPr>
          <a:xfrm>
            <a:off x="6172200" y="1905000"/>
            <a:ext cx="2527300" cy="838200"/>
          </a:xfrm>
          <a:prstGeom prst="roundRect">
            <a:avLst>
              <a:gd name="adj" fmla="val 10606"/>
            </a:avLst>
          </a:prstGeom>
          <a:solidFill>
            <a:srgbClr val="D0BFFF"/>
          </a:solidFill>
          <a:ln w="28575">
            <a:solidFill>
              <a:srgbClr val="1E1E1E"/>
            </a:solidFill>
          </a:ln>
        </p:spPr>
        <p:txBody>
          <a:bodyPr wrap="square" lIns="139700" tIns="139700" rIns="139700" bIns="139700" rtlCol="0" anchor="t"/>
          <a:lstStyle/>
          <a:p>
            <a:pPr algn="l" indent="0" marL="0">
              <a:lnSpc>
                <a:spcPct val="105000"/>
              </a:lnSpc>
              <a:spcAft>
                <a:spcPts val="200"/>
              </a:spcAft>
              <a:buNone/>
            </a:pPr>
            <a:r>
              <a:rPr lang="en-US" sz="1800" b="1" dirty="0">
                <a:solidFill>
                  <a:srgbClr val="1E1E1E"/>
                </a:solidFill>
                <a:latin typeface="Kalam" pitchFamily="34" charset="0"/>
                <a:ea typeface="Kalam" pitchFamily="34" charset="-122"/>
                <a:cs typeface="Kalam" pitchFamily="34" charset="-120"/>
              </a:rPr>
              <a:t>3 · Jerarquía</a:t>
            </a:r>
            <a:endParaRPr lang="en-US" sz="1800" dirty="0"/>
          </a:p>
          <a:p>
            <a:pPr algn="l" indent="0" marL="0">
              <a:lnSpc>
                <a:spcPct val="105000"/>
              </a:lnSpc>
              <a:buNone/>
            </a:pPr>
            <a:r>
              <a:rPr lang="en-US" sz="1200" dirty="0">
                <a:solidFill>
                  <a:srgbClr val="1E1E1E"/>
                </a:solidFill>
                <a:latin typeface="Nunito" pitchFamily="34" charset="0"/>
                <a:ea typeface="Nunito" pitchFamily="34" charset="-122"/>
                <a:cs typeface="Nunito" pitchFamily="34" charset="-120"/>
              </a:rPr>
              <a:t>linkage con Ward</a:t>
            </a:r>
            <a:endParaRPr lang="en-US" sz="1800" dirty="0"/>
          </a:p>
        </p:txBody>
      </p:sp>
      <p:sp>
        <p:nvSpPr>
          <p:cNvPr id="8" name="Text 5"/>
          <p:cNvSpPr/>
          <p:nvPr/>
        </p:nvSpPr>
        <p:spPr>
          <a:xfrm>
            <a:off x="8851900" y="1905000"/>
            <a:ext cx="2527300" cy="838200"/>
          </a:xfrm>
          <a:prstGeom prst="roundRect">
            <a:avLst>
              <a:gd name="adj" fmla="val 10606"/>
            </a:avLst>
          </a:prstGeom>
          <a:solidFill>
            <a:srgbClr val="D0BFFF"/>
          </a:solidFill>
          <a:ln w="28575">
            <a:solidFill>
              <a:srgbClr val="1E1E1E"/>
            </a:solidFill>
          </a:ln>
        </p:spPr>
        <p:txBody>
          <a:bodyPr wrap="square" lIns="139700" tIns="139700" rIns="139700" bIns="139700" rtlCol="0" anchor="t"/>
          <a:lstStyle/>
          <a:p>
            <a:pPr algn="l" indent="0" marL="0">
              <a:lnSpc>
                <a:spcPct val="105000"/>
              </a:lnSpc>
              <a:spcAft>
                <a:spcPts val="200"/>
              </a:spcAft>
              <a:buNone/>
            </a:pPr>
            <a:r>
              <a:rPr lang="en-US" sz="1800" b="1" dirty="0">
                <a:solidFill>
                  <a:srgbClr val="1E1E1E"/>
                </a:solidFill>
                <a:latin typeface="Kalam" pitchFamily="34" charset="0"/>
                <a:ea typeface="Kalam" pitchFamily="34" charset="-122"/>
                <a:cs typeface="Kalam" pitchFamily="34" charset="-120"/>
              </a:rPr>
              <a:t>4 · Dendrograma</a:t>
            </a:r>
            <a:endParaRPr lang="en-US" sz="1800" dirty="0"/>
          </a:p>
          <a:p>
            <a:pPr algn="l" indent="0" marL="0">
              <a:lnSpc>
                <a:spcPct val="105000"/>
              </a:lnSpc>
              <a:buNone/>
            </a:pPr>
            <a:r>
              <a:rPr lang="en-US" sz="1200" dirty="0">
                <a:solidFill>
                  <a:srgbClr val="1E1E1E"/>
                </a:solidFill>
                <a:latin typeface="Nunito" pitchFamily="34" charset="0"/>
                <a:ea typeface="Nunito" pitchFamily="34" charset="-122"/>
                <a:cs typeface="Nunito" pitchFamily="34" charset="-120"/>
              </a:rPr>
              <a:t>con línea de corte</a:t>
            </a:r>
            <a:endParaRPr lang="en-US" sz="1800" dirty="0"/>
          </a:p>
        </p:txBody>
      </p:sp>
      <p:sp>
        <p:nvSpPr>
          <p:cNvPr id="9" name="Text 6"/>
          <p:cNvSpPr/>
          <p:nvPr/>
        </p:nvSpPr>
        <p:spPr>
          <a:xfrm>
            <a:off x="812800" y="2895600"/>
            <a:ext cx="2527300" cy="838200"/>
          </a:xfrm>
          <a:prstGeom prst="roundRect">
            <a:avLst>
              <a:gd name="adj" fmla="val 10606"/>
            </a:avLst>
          </a:prstGeom>
          <a:solidFill>
            <a:srgbClr val="FFFFFF"/>
          </a:solidFill>
          <a:ln w="28575">
            <a:solidFill>
              <a:srgbClr val="1E1E1E"/>
            </a:solidFill>
          </a:ln>
        </p:spPr>
        <p:txBody>
          <a:bodyPr wrap="square" lIns="139700" tIns="139700" rIns="139700" bIns="139700" rtlCol="0" anchor="t"/>
          <a:lstStyle/>
          <a:p>
            <a:pPr algn="l" indent="0" marL="0">
              <a:lnSpc>
                <a:spcPct val="105000"/>
              </a:lnSpc>
              <a:spcAft>
                <a:spcPts val="200"/>
              </a:spcAft>
              <a:buNone/>
            </a:pPr>
            <a:r>
              <a:rPr lang="en-US" sz="1800" b="1" dirty="0">
                <a:solidFill>
                  <a:srgbClr val="1E1E1E"/>
                </a:solidFill>
                <a:latin typeface="Kalam" pitchFamily="34" charset="0"/>
                <a:ea typeface="Kalam" pitchFamily="34" charset="-122"/>
                <a:cs typeface="Kalam" pitchFamily="34" charset="-120"/>
              </a:rPr>
              <a:t>5 · Elegir k</a:t>
            </a:r>
            <a:endParaRPr lang="en-US" sz="1800" dirty="0"/>
          </a:p>
          <a:p>
            <a:pPr algn="l" indent="0" marL="0">
              <a:lnSpc>
                <a:spcPct val="105000"/>
              </a:lnSpc>
              <a:buNone/>
            </a:pPr>
            <a:r>
              <a:rPr lang="en-US" sz="1200" dirty="0">
                <a:solidFill>
                  <a:srgbClr val="1E1E1E"/>
                </a:solidFill>
                <a:latin typeface="Nunito" pitchFamily="34" charset="0"/>
                <a:ea typeface="Nunito" pitchFamily="34" charset="-122"/>
                <a:cs typeface="Nunito" pitchFamily="34" charset="-120"/>
              </a:rPr>
              <a:t>salto y silueta</a:t>
            </a:r>
            <a:endParaRPr lang="en-US" sz="1800" dirty="0"/>
          </a:p>
        </p:txBody>
      </p:sp>
      <p:sp>
        <p:nvSpPr>
          <p:cNvPr id="10" name="Text 7"/>
          <p:cNvSpPr/>
          <p:nvPr/>
        </p:nvSpPr>
        <p:spPr>
          <a:xfrm>
            <a:off x="3492500" y="2895600"/>
            <a:ext cx="2527300" cy="838200"/>
          </a:xfrm>
          <a:prstGeom prst="roundRect">
            <a:avLst>
              <a:gd name="adj" fmla="val 10606"/>
            </a:avLst>
          </a:prstGeom>
          <a:solidFill>
            <a:srgbClr val="FFFFFF"/>
          </a:solidFill>
          <a:ln w="28575">
            <a:solidFill>
              <a:srgbClr val="1E1E1E"/>
            </a:solidFill>
          </a:ln>
        </p:spPr>
        <p:txBody>
          <a:bodyPr wrap="square" lIns="139700" tIns="139700" rIns="139700" bIns="139700" rtlCol="0" anchor="t"/>
          <a:lstStyle/>
          <a:p>
            <a:pPr algn="l" indent="0" marL="0">
              <a:lnSpc>
                <a:spcPct val="105000"/>
              </a:lnSpc>
              <a:spcAft>
                <a:spcPts val="200"/>
              </a:spcAft>
              <a:buNone/>
            </a:pPr>
            <a:r>
              <a:rPr lang="en-US" sz="1800" b="1" dirty="0">
                <a:solidFill>
                  <a:srgbClr val="1E1E1E"/>
                </a:solidFill>
                <a:latin typeface="Kalam" pitchFamily="34" charset="0"/>
                <a:ea typeface="Kalam" pitchFamily="34" charset="-122"/>
                <a:cs typeface="Kalam" pitchFamily="34" charset="-120"/>
              </a:rPr>
              <a:t>6 · Modelo</a:t>
            </a:r>
            <a:endParaRPr lang="en-US" sz="1800" dirty="0"/>
          </a:p>
          <a:p>
            <a:pPr algn="l" indent="0" marL="0">
              <a:lnSpc>
                <a:spcPct val="105000"/>
              </a:lnSpc>
              <a:buNone/>
            </a:pPr>
            <a:r>
              <a:rPr lang="en-US" sz="1200" dirty="0">
                <a:solidFill>
                  <a:srgbClr val="1E1E1E"/>
                </a:solidFill>
                <a:latin typeface="Nunito" pitchFamily="34" charset="0"/>
                <a:ea typeface="Nunito" pitchFamily="34" charset="-122"/>
                <a:cs typeface="Nunito" pitchFamily="34" charset="-120"/>
              </a:rPr>
              <a:t>AgglomerativeClustering</a:t>
            </a:r>
            <a:endParaRPr lang="en-US" sz="1800" dirty="0"/>
          </a:p>
        </p:txBody>
      </p:sp>
      <p:sp>
        <p:nvSpPr>
          <p:cNvPr id="11" name="Text 8"/>
          <p:cNvSpPr/>
          <p:nvPr/>
        </p:nvSpPr>
        <p:spPr>
          <a:xfrm>
            <a:off x="6172200" y="2895600"/>
            <a:ext cx="2527300" cy="838200"/>
          </a:xfrm>
          <a:prstGeom prst="roundRect">
            <a:avLst>
              <a:gd name="adj" fmla="val 10606"/>
            </a:avLst>
          </a:prstGeom>
          <a:solidFill>
            <a:srgbClr val="FFFFFF"/>
          </a:solidFill>
          <a:ln w="28575">
            <a:solidFill>
              <a:srgbClr val="1E1E1E"/>
            </a:solidFill>
          </a:ln>
        </p:spPr>
        <p:txBody>
          <a:bodyPr wrap="square" lIns="139700" tIns="139700" rIns="139700" bIns="139700" rtlCol="0" anchor="t"/>
          <a:lstStyle/>
          <a:p>
            <a:pPr algn="l" indent="0" marL="0">
              <a:lnSpc>
                <a:spcPct val="105000"/>
              </a:lnSpc>
              <a:spcAft>
                <a:spcPts val="200"/>
              </a:spcAft>
              <a:buNone/>
            </a:pPr>
            <a:r>
              <a:rPr lang="en-US" sz="1800" b="1" dirty="0">
                <a:solidFill>
                  <a:srgbClr val="1E1E1E"/>
                </a:solidFill>
                <a:latin typeface="Kalam" pitchFamily="34" charset="0"/>
                <a:ea typeface="Kalam" pitchFamily="34" charset="-122"/>
                <a:cs typeface="Kalam" pitchFamily="34" charset="-120"/>
              </a:rPr>
              <a:t>7 · Evaluar</a:t>
            </a:r>
            <a:endParaRPr lang="en-US" sz="1800" dirty="0"/>
          </a:p>
          <a:p>
            <a:pPr algn="l" indent="0" marL="0">
              <a:lnSpc>
                <a:spcPct val="105000"/>
              </a:lnSpc>
              <a:buNone/>
            </a:pPr>
            <a:r>
              <a:rPr lang="en-US" sz="1200" dirty="0">
                <a:solidFill>
                  <a:srgbClr val="1E1E1E"/>
                </a:solidFill>
                <a:latin typeface="Nunito" pitchFamily="34" charset="0"/>
                <a:ea typeface="Nunito" pitchFamily="34" charset="-122"/>
                <a:cs typeface="Nunito" pitchFamily="34" charset="-120"/>
              </a:rPr>
              <a:t>silueta, cofenética, ARI</a:t>
            </a:r>
            <a:endParaRPr lang="en-US" sz="1800" dirty="0"/>
          </a:p>
        </p:txBody>
      </p:sp>
      <p:sp>
        <p:nvSpPr>
          <p:cNvPr id="12" name="Text 9"/>
          <p:cNvSpPr/>
          <p:nvPr/>
        </p:nvSpPr>
        <p:spPr>
          <a:xfrm>
            <a:off x="8851900" y="2895600"/>
            <a:ext cx="2527300" cy="838200"/>
          </a:xfrm>
          <a:prstGeom prst="roundRect">
            <a:avLst>
              <a:gd name="adj" fmla="val 10606"/>
            </a:avLst>
          </a:prstGeom>
          <a:solidFill>
            <a:srgbClr val="FFFFFF"/>
          </a:solidFill>
          <a:ln w="28575">
            <a:solidFill>
              <a:srgbClr val="1E1E1E"/>
            </a:solidFill>
          </a:ln>
        </p:spPr>
        <p:txBody>
          <a:bodyPr wrap="square" lIns="139700" tIns="139700" rIns="139700" bIns="139700" rtlCol="0" anchor="t"/>
          <a:lstStyle/>
          <a:p>
            <a:pPr algn="l" indent="0" marL="0">
              <a:lnSpc>
                <a:spcPct val="105000"/>
              </a:lnSpc>
              <a:spcAft>
                <a:spcPts val="200"/>
              </a:spcAft>
              <a:buNone/>
            </a:pPr>
            <a:r>
              <a:rPr lang="en-US" sz="1800" b="1" dirty="0">
                <a:solidFill>
                  <a:srgbClr val="1E1E1E"/>
                </a:solidFill>
                <a:latin typeface="Kalam" pitchFamily="34" charset="0"/>
                <a:ea typeface="Kalam" pitchFamily="34" charset="-122"/>
                <a:cs typeface="Kalam" pitchFamily="34" charset="-120"/>
              </a:rPr>
              <a:t>8 · Comparar</a:t>
            </a:r>
            <a:endParaRPr lang="en-US" sz="1800" dirty="0"/>
          </a:p>
          <a:p>
            <a:pPr algn="l" indent="0" marL="0">
              <a:lnSpc>
                <a:spcPct val="105000"/>
              </a:lnSpc>
              <a:buNone/>
            </a:pPr>
            <a:r>
              <a:rPr lang="en-US" sz="1200" dirty="0">
                <a:solidFill>
                  <a:srgbClr val="1E1E1E"/>
                </a:solidFill>
                <a:latin typeface="Nunito" pitchFamily="34" charset="0"/>
                <a:ea typeface="Nunito" pitchFamily="34" charset="-122"/>
                <a:cs typeface="Nunito" pitchFamily="34" charset="-120"/>
              </a:rPr>
              <a:t>4 enlaces, blobs y lunas</a:t>
            </a:r>
            <a:endParaRPr lang="en-US" sz="1800" dirty="0"/>
          </a:p>
        </p:txBody>
      </p:sp>
      <p:sp>
        <p:nvSpPr>
          <p:cNvPr id="13" name="Text 10"/>
          <p:cNvSpPr/>
          <p:nvPr/>
        </p:nvSpPr>
        <p:spPr>
          <a:xfrm>
            <a:off x="812800" y="4064000"/>
            <a:ext cx="10566400" cy="635000"/>
          </a:xfrm>
          <a:prstGeom prst="roundRect">
            <a:avLst>
              <a:gd name="adj" fmla="val 14000"/>
            </a:avLst>
          </a:prstGeom>
          <a:solidFill>
            <a:srgbClr val="1E1E1E"/>
          </a:solidFill>
          <a:ln w="28575">
            <a:solidFill>
              <a:srgbClr val="1E1E1E"/>
            </a:solidFill>
          </a:ln>
        </p:spPr>
        <p:txBody>
          <a:bodyPr wrap="square" lIns="203200" tIns="203200" rIns="203200" bIns="203200" rtlCol="0" anchor="ctr"/>
          <a:lstStyle/>
          <a:p>
            <a:pPr algn="l" indent="0" marL="0">
              <a:lnSpc>
                <a:spcPct val="105000"/>
              </a:lnSpc>
              <a:buNone/>
            </a:pPr>
            <a:r>
              <a:rPr lang="en-US" sz="1500" dirty="0">
                <a:solidFill>
                  <a:srgbClr val="E9ECEF"/>
                </a:solidFill>
                <a:latin typeface="Fira Code" pitchFamily="34" charset="0"/>
                <a:ea typeface="Fira Code" pitchFamily="34" charset="-122"/>
                <a:cs typeface="Fira Code" pitchFamily="34" charset="-120"/>
              </a:rPr>
              <a:t>AgglomerativeClustering(n_clusters=3, linkage="ward").fit_predict(X_esc)</a:t>
            </a:r>
            <a:endParaRPr lang="en-US" sz="1500" dirty="0"/>
          </a:p>
        </p:txBody>
      </p:sp>
      <p:sp>
        <p:nvSpPr>
          <p:cNvPr id="14" name="Text 11"/>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13 / 17</a:t>
            </a:r>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 · </a:t>
            </a:r>
            <a:pPr algn="l" indent="0" marL="0">
              <a:lnSpc>
                <a:spcPct val="100000"/>
              </a:lnSpc>
              <a:buNone/>
            </a:pPr>
            <a:r>
              <a:rPr lang="en-US" sz="1200" u="sng" dirty="0">
                <a:solidFill>
                  <a:srgbClr val="1971C2"/>
                </a:solidFill>
                <a:latin typeface="Nunito" pitchFamily="34" charset="0"/>
                <a:ea typeface="Nunito" pitchFamily="34" charset="-122"/>
                <a:cs typeface="Nuni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notebooks/clustering_jerarquico.ipynb</a:t>
            </a:r>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 · diagrama 7 en </a:t>
            </a:r>
            <a:pPr algn="l" indent="0" marL="0">
              <a:lnSpc>
                <a:spcPct val="100000"/>
              </a:lnSpc>
              <a:buNone/>
            </a:pPr>
            <a:r>
              <a:rPr lang="en-US" sz="1200" u="sng" dirty="0">
                <a:solidFill>
                  <a:srgbClr val="1971C2"/>
                </a:solidFill>
                <a:latin typeface="Nunito" pitchFamily="34" charset="0"/>
                <a:ea typeface="Nunito" pitchFamily="34" charset="-122"/>
                <a:cs typeface="Nun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docs/diagramas.md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7"/>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Resultados</a:t>
            </a:r>
            <a:endParaRPr lang="en-US" sz="3800" dirty="0"/>
          </a:p>
        </p:txBody>
      </p:sp>
      <p:sp>
        <p:nvSpPr>
          <p:cNvPr id="4" name="Text 1"/>
          <p:cNvSpPr txBox="1"/>
          <p:nvPr/>
        </p:nvSpPr>
        <p:spPr>
          <a:xfrm>
            <a:off x="812800" y="1663700"/>
            <a:ext cx="5105400" cy="406400"/>
          </a:xfrm>
          <a:prstGeom prst="rect">
            <a:avLst/>
          </a:prstGeom>
          <a:noFill/>
          <a:ln/>
        </p:spPr>
        <p:txBody>
          <a:bodyPr wrap="square" lIns="0" tIns="0" rIns="0" bIns="0" rtlCol="0" anchor="t"/>
          <a:lstStyle/>
          <a:p>
            <a:pPr algn="l" indent="0" marL="0">
              <a:lnSpc>
                <a:spcPct val="100000"/>
              </a:lnSpc>
              <a:buNone/>
            </a:pPr>
            <a:r>
              <a:rPr lang="en-US" sz="2200" b="1" dirty="0">
                <a:solidFill>
                  <a:srgbClr val="1971C2"/>
                </a:solidFill>
                <a:latin typeface="Kalam" pitchFamily="34" charset="0"/>
                <a:ea typeface="Kalam" pitchFamily="34" charset="-122"/>
                <a:cs typeface="Kalam" pitchFamily="34" charset="-120"/>
              </a:rPr>
              <a:t>Blobs · Ward · k = 3</a:t>
            </a:r>
            <a:endParaRPr lang="en-US" sz="2200" dirty="0"/>
          </a:p>
        </p:txBody>
      </p:sp>
      <p:sp>
        <p:nvSpPr>
          <p:cNvPr id="5" name="Shape 2"/>
          <p:cNvSpPr/>
          <p:nvPr/>
        </p:nvSpPr>
        <p:spPr>
          <a:xfrm>
            <a:off x="812800" y="2159000"/>
            <a:ext cx="5105400" cy="1905000"/>
          </a:xfrm>
          <a:prstGeom prst="roundRect">
            <a:avLst>
              <a:gd name="adj" fmla="val 5333"/>
            </a:avLst>
          </a:prstGeom>
          <a:solidFill>
            <a:srgbClr val="FFFFFF"/>
          </a:solidFill>
          <a:ln w="28575">
            <a:solidFill>
              <a:srgbClr val="1E1E1E"/>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14400" y="2260600"/>
          <a:ext cx="4902200" cy="914400"/>
        </p:xfrm>
        <a:graphic>
          <a:graphicData uri="http://schemas.openxmlformats.org/drawingml/2006/table">
            <a:tbl>
              <a:tblPr/>
              <a:tblGrid>
                <a:gridCol w="2941320"/>
                <a:gridCol w="1960880"/>
              </a:tblGrid>
              <a:tr h="419100">
                <a:tc>
                  <a:txBody>
                    <a:bodyPr/>
                    <a:lstStyle/>
                    <a:p>
                      <a:pPr algn="l" indent="0" marL="0">
                        <a:buNone/>
                      </a:pPr>
                      <a:r>
                        <a:rPr lang="en-US" sz="1500" b="1" dirty="0">
                          <a:solidFill>
                            <a:srgbClr val="495057"/>
                          </a:solidFill>
                          <a:latin typeface="Nunito" pitchFamily="34" charset="0"/>
                          <a:ea typeface="Nunito" pitchFamily="34" charset="-122"/>
                          <a:cs typeface="Nunito" pitchFamily="34" charset="-120"/>
                        </a:rPr>
                        <a:t>Métrica</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495057"/>
                          </a:solidFill>
                          <a:latin typeface="Nunito" pitchFamily="34" charset="0"/>
                          <a:ea typeface="Nunito" pitchFamily="34" charset="-122"/>
                          <a:cs typeface="Nunito" pitchFamily="34" charset="-120"/>
                        </a:rPr>
                        <a:t>Valor</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1E1E1E"/>
                          </a:solidFill>
                          <a:latin typeface="Nunito" pitchFamily="34" charset="0"/>
                          <a:ea typeface="Nunito" pitchFamily="34" charset="-122"/>
                          <a:cs typeface="Nunito" pitchFamily="34" charset="-120"/>
                        </a:rPr>
                        <a:t>Silueta</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1E1E"/>
                          </a:solidFill>
                          <a:latin typeface="Nunito" pitchFamily="34" charset="0"/>
                          <a:ea typeface="Nunito" pitchFamily="34" charset="-122"/>
                          <a:cs typeface="Nunito" pitchFamily="34" charset="-120"/>
                        </a:rPr>
                        <a:t>0.846</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1E1E1E"/>
                          </a:solidFill>
                          <a:latin typeface="Nunito" pitchFamily="34" charset="0"/>
                          <a:ea typeface="Nunito" pitchFamily="34" charset="-122"/>
                          <a:cs typeface="Nunito" pitchFamily="34" charset="-120"/>
                        </a:rPr>
                        <a:t>Correlación cofenética</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1E1E"/>
                          </a:solidFill>
                          <a:latin typeface="Nunito" pitchFamily="34" charset="0"/>
                          <a:ea typeface="Nunito" pitchFamily="34" charset="-122"/>
                          <a:cs typeface="Nunito" pitchFamily="34" charset="-120"/>
                        </a:rPr>
                        <a:t>0.976</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1E1E1E"/>
                          </a:solidFill>
                          <a:latin typeface="Nunito" pitchFamily="34" charset="0"/>
                          <a:ea typeface="Nunito" pitchFamily="34" charset="-122"/>
                          <a:cs typeface="Nunito" pitchFamily="34" charset="-120"/>
                        </a:rPr>
                        <a:t>ARI con grupos reales</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1E1E"/>
                          </a:solidFill>
                          <a:latin typeface="Nunito" pitchFamily="34" charset="0"/>
                          <a:ea typeface="Nunito" pitchFamily="34" charset="-122"/>
                          <a:cs typeface="Nunito" pitchFamily="34" charset="-120"/>
                        </a:rPr>
                        <a:t>1.000</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812800" y="4203700"/>
            <a:ext cx="5105400" cy="508000"/>
          </a:xfrm>
          <a:prstGeom prst="rect">
            <a:avLst/>
          </a:prstGeom>
          <a:noFill/>
          <a:ln/>
        </p:spPr>
        <p:txBody>
          <a:bodyPr wrap="square" lIns="0" tIns="0" rIns="0" bIns="0" rtlCol="0" anchor="t"/>
          <a:lstStyle/>
          <a:p>
            <a:pPr algn="l" indent="0" marL="0">
              <a:lnSpc>
                <a:spcPct val="115000"/>
              </a:lnSpc>
              <a:buNone/>
            </a:pPr>
            <a:r>
              <a:rPr lang="en-US" sz="1300" dirty="0">
                <a:solidFill>
                  <a:srgbClr val="495057"/>
                </a:solidFill>
                <a:latin typeface="Nunito" pitchFamily="34" charset="0"/>
                <a:ea typeface="Nunito" pitchFamily="34" charset="-122"/>
                <a:cs typeface="Nunito" pitchFamily="34" charset="-120"/>
              </a:rPr>
              <a:t>Grupos bien separados: los 4 enlaces dan el mismo resultado.</a:t>
            </a:r>
            <a:endParaRPr lang="en-US" sz="1300" dirty="0"/>
          </a:p>
        </p:txBody>
      </p:sp>
      <p:sp>
        <p:nvSpPr>
          <p:cNvPr id="8" name="Text 4"/>
          <p:cNvSpPr txBox="1"/>
          <p:nvPr/>
        </p:nvSpPr>
        <p:spPr>
          <a:xfrm>
            <a:off x="6273800" y="1663700"/>
            <a:ext cx="5105400" cy="406400"/>
          </a:xfrm>
          <a:prstGeom prst="rect">
            <a:avLst/>
          </a:prstGeom>
          <a:noFill/>
          <a:ln/>
        </p:spPr>
        <p:txBody>
          <a:bodyPr wrap="square" lIns="0" tIns="0" rIns="0" bIns="0" rtlCol="0" anchor="t"/>
          <a:lstStyle/>
          <a:p>
            <a:pPr algn="l" indent="0" marL="0">
              <a:lnSpc>
                <a:spcPct val="100000"/>
              </a:lnSpc>
              <a:buNone/>
            </a:pPr>
            <a:r>
              <a:rPr lang="en-US" sz="2200" b="1" dirty="0">
                <a:solidFill>
                  <a:srgbClr val="E8590C"/>
                </a:solidFill>
                <a:latin typeface="Kalam" pitchFamily="34" charset="0"/>
                <a:ea typeface="Kalam" pitchFamily="34" charset="-122"/>
                <a:cs typeface="Kalam" pitchFamily="34" charset="-120"/>
              </a:rPr>
              <a:t>Lunas · k = 2</a:t>
            </a:r>
            <a:endParaRPr lang="en-US" sz="2200" dirty="0"/>
          </a:p>
        </p:txBody>
      </p:sp>
      <p:sp>
        <p:nvSpPr>
          <p:cNvPr id="9" name="Shape 5"/>
          <p:cNvSpPr/>
          <p:nvPr/>
        </p:nvSpPr>
        <p:spPr>
          <a:xfrm>
            <a:off x="6273800" y="2159000"/>
            <a:ext cx="5105400" cy="2324100"/>
          </a:xfrm>
          <a:prstGeom prst="roundRect">
            <a:avLst>
              <a:gd name="adj" fmla="val 4372"/>
            </a:avLst>
          </a:prstGeom>
          <a:solidFill>
            <a:srgbClr val="FFFFFF"/>
          </a:solidFill>
          <a:ln w="28575">
            <a:solidFill>
              <a:srgbClr val="1E1E1E"/>
            </a:solidFill>
            <a:prstDash val="solid"/>
          </a:ln>
        </p:spPr>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375400" y="2260600"/>
          <a:ext cx="4902200" cy="914400"/>
        </p:xfrm>
        <a:graphic>
          <a:graphicData uri="http://schemas.openxmlformats.org/drawingml/2006/table">
            <a:tbl>
              <a:tblPr/>
              <a:tblGrid>
                <a:gridCol w="1960880"/>
                <a:gridCol w="1470660"/>
                <a:gridCol w="1470660"/>
              </a:tblGrid>
              <a:tr h="419100">
                <a:tc>
                  <a:txBody>
                    <a:bodyPr/>
                    <a:lstStyle/>
                    <a:p>
                      <a:pPr algn="l" indent="0" marL="0">
                        <a:buNone/>
                      </a:pPr>
                      <a:r>
                        <a:rPr lang="en-US" sz="1500" b="1" dirty="0">
                          <a:solidFill>
                            <a:srgbClr val="495057"/>
                          </a:solidFill>
                          <a:latin typeface="Nunito" pitchFamily="34" charset="0"/>
                          <a:ea typeface="Nunito" pitchFamily="34" charset="-122"/>
                          <a:cs typeface="Nunito" pitchFamily="34" charset="-120"/>
                        </a:rPr>
                        <a:t>Enlace</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495057"/>
                          </a:solidFill>
                          <a:latin typeface="Nunito" pitchFamily="34" charset="0"/>
                          <a:ea typeface="Nunito" pitchFamily="34" charset="-122"/>
                          <a:cs typeface="Nunito" pitchFamily="34" charset="-120"/>
                        </a:rPr>
                        <a:t>ARI</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500" b="1" dirty="0">
                          <a:solidFill>
                            <a:srgbClr val="495057"/>
                          </a:solidFill>
                          <a:latin typeface="Nunito" pitchFamily="34" charset="0"/>
                          <a:ea typeface="Nunito" pitchFamily="34" charset="-122"/>
                          <a:cs typeface="Nunito" pitchFamily="34" charset="-120"/>
                        </a:rPr>
                        <a:t>Silueta</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1E1E1E"/>
                          </a:solidFill>
                          <a:latin typeface="Nunito" pitchFamily="34" charset="0"/>
                          <a:ea typeface="Nunito" pitchFamily="34" charset="-122"/>
                          <a:cs typeface="Nunito" pitchFamily="34" charset="-120"/>
                        </a:rPr>
                        <a:t>single</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B2F2BB"/>
                    </a:solidFill>
                  </a:tcPr>
                </a:tc>
                <a:tc>
                  <a:txBody>
                    <a:bodyPr/>
                    <a:lstStyle/>
                    <a:p>
                      <a:pPr algn="r" indent="0" marL="0">
                        <a:buNone/>
                      </a:pPr>
                      <a:r>
                        <a:rPr lang="en-US" sz="1500" dirty="0">
                          <a:solidFill>
                            <a:srgbClr val="1E1E1E"/>
                          </a:solidFill>
                          <a:latin typeface="Nunito" pitchFamily="34" charset="0"/>
                          <a:ea typeface="Nunito" pitchFamily="34" charset="-122"/>
                          <a:cs typeface="Nunito" pitchFamily="34" charset="-120"/>
                        </a:rPr>
                        <a:t>1.00</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B2F2BB"/>
                    </a:solidFill>
                  </a:tcPr>
                </a:tc>
                <a:tc>
                  <a:txBody>
                    <a:bodyPr/>
                    <a:lstStyle/>
                    <a:p>
                      <a:pPr algn="r" indent="0" marL="0">
                        <a:buNone/>
                      </a:pPr>
                      <a:r>
                        <a:rPr lang="en-US" sz="1500" dirty="0">
                          <a:solidFill>
                            <a:srgbClr val="1E1E1E"/>
                          </a:solidFill>
                          <a:latin typeface="Nunito" pitchFamily="34" charset="0"/>
                          <a:ea typeface="Nunito" pitchFamily="34" charset="-122"/>
                          <a:cs typeface="Nunito" pitchFamily="34" charset="-120"/>
                        </a:rPr>
                        <a:t>0.38</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B2F2BB"/>
                    </a:solidFill>
                  </a:tcPr>
                </a:tc>
              </a:tr>
              <a:tr h="419100">
                <a:tc>
                  <a:txBody>
                    <a:bodyPr/>
                    <a:lstStyle/>
                    <a:p>
                      <a:pPr algn="l" indent="0" marL="0">
                        <a:buNone/>
                      </a:pPr>
                      <a:r>
                        <a:rPr lang="en-US" sz="1500" dirty="0">
                          <a:solidFill>
                            <a:srgbClr val="1E1E1E"/>
                          </a:solidFill>
                          <a:latin typeface="Nunito" pitchFamily="34" charset="0"/>
                          <a:ea typeface="Nunito" pitchFamily="34" charset="-122"/>
                          <a:cs typeface="Nunito" pitchFamily="34" charset="-120"/>
                        </a:rPr>
                        <a:t>complete</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1E1E"/>
                          </a:solidFill>
                          <a:latin typeface="Nunito" pitchFamily="34" charset="0"/>
                          <a:ea typeface="Nunito" pitchFamily="34" charset="-122"/>
                          <a:cs typeface="Nunito" pitchFamily="34" charset="-120"/>
                        </a:rPr>
                        <a:t>0.49</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1E1E"/>
                          </a:solidFill>
                          <a:latin typeface="Nunito" pitchFamily="34" charset="0"/>
                          <a:ea typeface="Nunito" pitchFamily="34" charset="-122"/>
                          <a:cs typeface="Nunito" pitchFamily="34" charset="-120"/>
                        </a:rPr>
                        <a:t>0.49</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1E1E1E"/>
                          </a:solidFill>
                          <a:latin typeface="Nunito" pitchFamily="34" charset="0"/>
                          <a:ea typeface="Nunito" pitchFamily="34" charset="-122"/>
                          <a:cs typeface="Nunito" pitchFamily="34" charset="-120"/>
                        </a:rPr>
                        <a:t>average</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1E1E"/>
                          </a:solidFill>
                          <a:latin typeface="Nunito" pitchFamily="34" charset="0"/>
                          <a:ea typeface="Nunito" pitchFamily="34" charset="-122"/>
                          <a:cs typeface="Nunito" pitchFamily="34" charset="-120"/>
                        </a:rPr>
                        <a:t>0.61</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1E1E"/>
                          </a:solidFill>
                          <a:latin typeface="Nunito" pitchFamily="34" charset="0"/>
                          <a:ea typeface="Nunito" pitchFamily="34" charset="-122"/>
                          <a:cs typeface="Nunito" pitchFamily="34" charset="-120"/>
                        </a:rPr>
                        <a:t>0.46</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r>
              <a:tr h="419100">
                <a:tc>
                  <a:txBody>
                    <a:bodyPr/>
                    <a:lstStyle/>
                    <a:p>
                      <a:pPr algn="l" indent="0" marL="0">
                        <a:buNone/>
                      </a:pPr>
                      <a:r>
                        <a:rPr lang="en-US" sz="1500" dirty="0">
                          <a:solidFill>
                            <a:srgbClr val="1E1E1E"/>
                          </a:solidFill>
                          <a:latin typeface="Nunito" pitchFamily="34" charset="0"/>
                          <a:ea typeface="Nunito" pitchFamily="34" charset="-122"/>
                          <a:cs typeface="Nunito" pitchFamily="34" charset="-120"/>
                        </a:rPr>
                        <a:t>ward</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1E1E"/>
                          </a:solidFill>
                          <a:latin typeface="Nunito" pitchFamily="34" charset="0"/>
                          <a:ea typeface="Nunito" pitchFamily="34" charset="-122"/>
                          <a:cs typeface="Nunito" pitchFamily="34" charset="-120"/>
                        </a:rPr>
                        <a:t>0.69</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1E1E"/>
                          </a:solidFill>
                          <a:latin typeface="Nunito" pitchFamily="34" charset="0"/>
                          <a:ea typeface="Nunito" pitchFamily="34" charset="-122"/>
                          <a:cs typeface="Nunito" pitchFamily="34" charset="-120"/>
                        </a:rPr>
                        <a:t>0.45</a:t>
                      </a:r>
                      <a:endParaRPr lang="en-US" sz="1500" dirty="0">
                        <a:latin typeface="Nunito" charset="0"/>
                        <a:ea typeface="Nunito" charset="0"/>
                        <a:cs typeface="Nunito" charset="0"/>
                      </a:endParaRPr>
                    </a:p>
                  </a:txBody>
                  <a:tcPr marL="127000" marR="127000" marT="50800" marB="50800" anchor="ctr">
                    <a:lnL w="0" cap="flat" cmpd="sng" algn="ctr">
                      <a:noFill/>
                    </a:lnL>
                    <a:lnR w="0" cap="flat" cmpd="sng" algn="ctr">
                      <a:noFill/>
                    </a:lnR>
                    <a:lnT w="0" cap="flat" cmpd="sng" algn="ctr">
                      <a:noFill/>
                    </a:lnT>
                    <a:lnB w="12700" cap="flat" cmpd="sng" algn="ctr">
                      <a:solidFill>
                        <a:srgbClr val="DEE2E6"/>
                      </a:solidFill>
                      <a:prstDash val="solid"/>
                      <a:round/>
                      <a:headEnd type="none" w="med" len="med"/>
                      <a:tailEnd type="none" w="med" len="med"/>
                    </a:lnB>
                    <a:solidFill>
                      <a:srgbClr val="FFFFFF"/>
                    </a:solidFill>
                  </a:tcPr>
                </a:tc>
              </a:tr>
            </a:tbl>
          </a:graphicData>
        </a:graphic>
      </p:graphicFrame>
      <p:sp>
        <p:nvSpPr>
          <p:cNvPr id="11" name="Text 6"/>
          <p:cNvSpPr txBox="1"/>
          <p:nvPr/>
        </p:nvSpPr>
        <p:spPr>
          <a:xfrm>
            <a:off x="6273800" y="4622800"/>
            <a:ext cx="5105400" cy="508000"/>
          </a:xfrm>
          <a:prstGeom prst="rect">
            <a:avLst/>
          </a:prstGeom>
          <a:noFill/>
          <a:ln/>
        </p:spPr>
        <p:txBody>
          <a:bodyPr wrap="square" lIns="0" tIns="0" rIns="0" bIns="0" rtlCol="0" anchor="t"/>
          <a:lstStyle/>
          <a:p>
            <a:pPr algn="l" indent="0" marL="0">
              <a:lnSpc>
                <a:spcPct val="115000"/>
              </a:lnSpc>
              <a:buNone/>
            </a:pPr>
            <a:r>
              <a:rPr lang="en-US" sz="1300" dirty="0">
                <a:solidFill>
                  <a:srgbClr val="495057"/>
                </a:solidFill>
                <a:latin typeface="Nunito" pitchFamily="34" charset="0"/>
                <a:ea typeface="Nunito" pitchFamily="34" charset="-122"/>
                <a:cs typeface="Nunito" pitchFamily="34" charset="-120"/>
              </a:rPr>
              <a:t>Solo single separa bien las lunas, y tiene la silueta más baja.</a:t>
            </a:r>
            <a:endParaRPr lang="en-US" sz="1300" dirty="0"/>
          </a:p>
        </p:txBody>
      </p:sp>
      <p:sp>
        <p:nvSpPr>
          <p:cNvPr id="12" name="Text 7"/>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14 / 17</a:t>
            </a:r>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 · valores del notebook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212"/>
        </a:solidFill>
      </p:bgPr>
    </p:bg>
    <p:spTree>
      <p:nvGrpSpPr>
        <p:cNvPr id="1" name=""/>
        <p:cNvGrpSpPr/>
        <p:nvPr/>
      </p:nvGrpSpPr>
      <p:grpSpPr>
        <a:xfrm>
          <a:off x="0" y="0"/>
          <a:ext cx="0" cy="0"/>
          <a:chOff x="0" y="0"/>
          <a:chExt cx="0" cy="0"/>
        </a:xfrm>
      </p:grpSpPr>
      <p:sp>
        <p:nvSpPr>
          <p:cNvPr id="3" name="Text 0"/>
          <p:cNvSpPr txBox="1"/>
          <p:nvPr/>
        </p:nvSpPr>
        <p:spPr>
          <a:xfrm>
            <a:off x="812800" y="1905000"/>
            <a:ext cx="10566400" cy="254000"/>
          </a:xfrm>
          <a:prstGeom prst="rect">
            <a:avLst/>
          </a:prstGeom>
          <a:noFill/>
          <a:ln/>
        </p:spPr>
        <p:txBody>
          <a:bodyPr wrap="square" lIns="0" tIns="0" rIns="0" bIns="0" rtlCol="0" anchor="t"/>
          <a:lstStyle/>
          <a:p>
            <a:pPr algn="l" indent="0" marL="0">
              <a:lnSpc>
                <a:spcPct val="100000"/>
              </a:lnSpc>
              <a:buNone/>
            </a:pPr>
            <a:r>
              <a:rPr lang="en-US" sz="1300" b="1" spc="200" kern="0" dirty="0">
                <a:solidFill>
                  <a:srgbClr val="FFC078"/>
                </a:solidFill>
                <a:latin typeface="Nunito" pitchFamily="34" charset="0"/>
                <a:ea typeface="Nunito" pitchFamily="34" charset="-122"/>
                <a:cs typeface="Nunito" pitchFamily="34" charset="-120"/>
              </a:rPr>
              <a:t>LECCIÓN CLAVE</a:t>
            </a:r>
            <a:endParaRPr lang="en-US" sz="1300" dirty="0"/>
          </a:p>
        </p:txBody>
      </p:sp>
      <p:sp>
        <p:nvSpPr>
          <p:cNvPr id="4" name="Text 1"/>
          <p:cNvSpPr txBox="1"/>
          <p:nvPr/>
        </p:nvSpPr>
        <p:spPr>
          <a:xfrm>
            <a:off x="812800" y="2286000"/>
            <a:ext cx="9525000" cy="1587500"/>
          </a:xfrm>
          <a:prstGeom prst="rect">
            <a:avLst/>
          </a:prstGeom>
          <a:noFill/>
          <a:ln/>
        </p:spPr>
        <p:txBody>
          <a:bodyPr wrap="square" lIns="0" tIns="0" rIns="0" bIns="0" rtlCol="0" anchor="t"/>
          <a:lstStyle/>
          <a:p>
            <a:pPr algn="l" indent="0" marL="0">
              <a:lnSpc>
                <a:spcPct val="100000"/>
              </a:lnSpc>
              <a:buNone/>
            </a:pPr>
            <a:r>
              <a:rPr lang="en-US" sz="4800" b="1" dirty="0">
                <a:solidFill>
                  <a:srgbClr val="E9ECEF"/>
                </a:solidFill>
                <a:latin typeface="Kalam" pitchFamily="34" charset="0"/>
                <a:ea typeface="Kalam" pitchFamily="34" charset="-122"/>
                <a:cs typeface="Kalam" pitchFamily="34" charset="-120"/>
              </a:rPr>
              <a:t>No existe un criterio de enlace universalmente mejor.</a:t>
            </a:r>
            <a:endParaRPr lang="en-US" sz="4800" dirty="0"/>
          </a:p>
        </p:txBody>
      </p:sp>
      <p:sp>
        <p:nvSpPr>
          <p:cNvPr id="5" name="Text 2"/>
          <p:cNvSpPr txBox="1"/>
          <p:nvPr/>
        </p:nvSpPr>
        <p:spPr>
          <a:xfrm>
            <a:off x="812800" y="4127500"/>
            <a:ext cx="8890000" cy="762000"/>
          </a:xfrm>
          <a:prstGeom prst="rect">
            <a:avLst/>
          </a:prstGeom>
          <a:noFill/>
          <a:ln/>
        </p:spPr>
        <p:txBody>
          <a:bodyPr wrap="square" lIns="0" tIns="0" rIns="0" bIns="0" rtlCol="0" anchor="t"/>
          <a:lstStyle/>
          <a:p>
            <a:pPr algn="l" indent="0" marL="0">
              <a:lnSpc>
                <a:spcPct val="115000"/>
              </a:lnSpc>
              <a:buNone/>
            </a:pPr>
            <a:r>
              <a:rPr lang="en-US" sz="1800" dirty="0">
                <a:solidFill>
                  <a:srgbClr val="CED4DA"/>
                </a:solidFill>
                <a:latin typeface="Nunito" pitchFamily="34" charset="0"/>
                <a:ea typeface="Nunito" pitchFamily="34" charset="-122"/>
                <a:cs typeface="Nunito" pitchFamily="34" charset="-120"/>
              </a:rPr>
              <a:t>Elige según la forma que esperas en tus datos, compara varios y no confíes en una sola métrica.</a:t>
            </a:r>
            <a:endParaRPr lang="en-US" sz="1800" dirty="0"/>
          </a:p>
        </p:txBody>
      </p:sp>
      <p:sp>
        <p:nvSpPr>
          <p:cNvPr id="6" name="Text 3"/>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15 /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7"/>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Ventajas y desventajas</a:t>
            </a:r>
            <a:endParaRPr lang="en-US" sz="3800" dirty="0"/>
          </a:p>
        </p:txBody>
      </p:sp>
      <p:sp>
        <p:nvSpPr>
          <p:cNvPr id="4" name="Text 1"/>
          <p:cNvSpPr/>
          <p:nvPr/>
        </p:nvSpPr>
        <p:spPr>
          <a:xfrm rot="-30000">
            <a:off x="812800" y="1841500"/>
            <a:ext cx="5130800" cy="2984500"/>
          </a:xfrm>
          <a:prstGeom prst="roundRect">
            <a:avLst>
              <a:gd name="adj" fmla="val 3404"/>
            </a:avLst>
          </a:prstGeom>
          <a:solidFill>
            <a:srgbClr val="EBFBEE"/>
          </a:solidFill>
          <a:ln w="28575">
            <a:solidFill>
              <a:srgbClr val="2F9E44"/>
            </a:solidFill>
          </a:ln>
        </p:spPr>
        <p:txBody>
          <a:bodyPr wrap="square" lIns="279400" tIns="279400" rIns="279400" bIns="279400" rtlCol="0" anchor="t"/>
          <a:lstStyle/>
          <a:p>
            <a:pPr algn="l" indent="0" marL="0">
              <a:lnSpc>
                <a:spcPct val="105000"/>
              </a:lnSpc>
              <a:spcAft>
                <a:spcPts val="1200"/>
              </a:spcAft>
              <a:buNone/>
            </a:pPr>
            <a:r>
              <a:rPr lang="en-US" sz="2200" b="1" dirty="0">
                <a:solidFill>
                  <a:srgbClr val="2F9E44"/>
                </a:solidFill>
                <a:latin typeface="Kalam" pitchFamily="34" charset="0"/>
                <a:ea typeface="Kalam" pitchFamily="34" charset="-122"/>
                <a:cs typeface="Kalam" pitchFamily="34" charset="-120"/>
              </a:rPr>
              <a:t>+ A favor</a:t>
            </a:r>
            <a:endParaRPr lang="en-US" sz="2200" dirty="0"/>
          </a:p>
          <a:p>
            <a:pPr algn="l" marL="228600" indent="-228600">
              <a:lnSpc>
                <a:spcPct val="105000"/>
              </a:lnSpc>
              <a:spcAft>
                <a:spcPts val="1000"/>
              </a:spcAft>
              <a:buSzPct val="100000"/>
              <a:buChar char="•"/>
            </a:pPr>
            <a:r>
              <a:rPr lang="en-US" sz="1500" dirty="0">
                <a:solidFill>
                  <a:srgbClr val="1E1E1E"/>
                </a:solidFill>
                <a:latin typeface="Nunito" pitchFamily="34" charset="0"/>
                <a:ea typeface="Nunito" pitchFamily="34" charset="-122"/>
                <a:cs typeface="Nunito" pitchFamily="34" charset="-120"/>
              </a:rPr>
              <a:t>No exige fijar k de antemano.</a:t>
            </a:r>
            <a:endParaRPr lang="en-US" sz="2200" dirty="0"/>
          </a:p>
          <a:p>
            <a:pPr algn="l" marL="228600" indent="-228600">
              <a:lnSpc>
                <a:spcPct val="105000"/>
              </a:lnSpc>
              <a:spcAft>
                <a:spcPts val="1000"/>
              </a:spcAft>
              <a:buSzPct val="100000"/>
              <a:buChar char="•"/>
            </a:pPr>
            <a:r>
              <a:rPr lang="en-US" sz="1500" dirty="0">
                <a:solidFill>
                  <a:srgbClr val="1E1E1E"/>
                </a:solidFill>
                <a:latin typeface="Nunito" pitchFamily="34" charset="0"/>
                <a:ea typeface="Nunito" pitchFamily="34" charset="-122"/>
                <a:cs typeface="Nunito" pitchFamily="34" charset="-120"/>
              </a:rPr>
              <a:t>El dendrograma es fácil de explicar.</a:t>
            </a:r>
            <a:endParaRPr lang="en-US" sz="2200" dirty="0"/>
          </a:p>
          <a:p>
            <a:pPr algn="l" marL="228600" indent="-228600">
              <a:lnSpc>
                <a:spcPct val="105000"/>
              </a:lnSpc>
              <a:spcAft>
                <a:spcPts val="1000"/>
              </a:spcAft>
              <a:buSzPct val="100000"/>
              <a:buChar char="•"/>
            </a:pPr>
            <a:r>
              <a:rPr lang="en-US" sz="1500" dirty="0">
                <a:solidFill>
                  <a:srgbClr val="1E1E1E"/>
                </a:solidFill>
                <a:latin typeface="Nunito" pitchFamily="34" charset="0"/>
                <a:ea typeface="Nunito" pitchFamily="34" charset="-122"/>
                <a:cs typeface="Nunito" pitchFamily="34" charset="-120"/>
              </a:rPr>
              <a:t>Admite cualquier distancia.</a:t>
            </a:r>
            <a:endParaRPr lang="en-US" sz="2200" dirty="0"/>
          </a:p>
          <a:p>
            <a:pPr algn="l" marL="228600" indent="-228600">
              <a:lnSpc>
                <a:spcPct val="105000"/>
              </a:lnSpc>
              <a:spcAft>
                <a:spcPts val="1000"/>
              </a:spcAft>
              <a:buSzPct val="100000"/>
              <a:buChar char="•"/>
            </a:pPr>
            <a:r>
              <a:rPr lang="en-US" sz="1500" dirty="0">
                <a:solidFill>
                  <a:srgbClr val="1E1E1E"/>
                </a:solidFill>
                <a:latin typeface="Nunito" pitchFamily="34" charset="0"/>
                <a:ea typeface="Nunito" pitchFamily="34" charset="-122"/>
                <a:cs typeface="Nunito" pitchFamily="34" charset="-120"/>
              </a:rPr>
              <a:t>Determinista: sin semilla aleatoria.</a:t>
            </a:r>
            <a:endParaRPr lang="en-US" sz="2200" dirty="0"/>
          </a:p>
        </p:txBody>
      </p:sp>
      <p:sp>
        <p:nvSpPr>
          <p:cNvPr id="5" name="Text 2"/>
          <p:cNvSpPr/>
          <p:nvPr/>
        </p:nvSpPr>
        <p:spPr>
          <a:xfrm rot="30000">
            <a:off x="6248400" y="1841500"/>
            <a:ext cx="5130800" cy="2984500"/>
          </a:xfrm>
          <a:prstGeom prst="roundRect">
            <a:avLst>
              <a:gd name="adj" fmla="val 3404"/>
            </a:avLst>
          </a:prstGeom>
          <a:solidFill>
            <a:srgbClr val="FFF5F5"/>
          </a:solidFill>
          <a:ln w="28575">
            <a:solidFill>
              <a:srgbClr val="E03131"/>
            </a:solidFill>
          </a:ln>
        </p:spPr>
        <p:txBody>
          <a:bodyPr wrap="square" lIns="279400" tIns="279400" rIns="279400" bIns="279400" rtlCol="0" anchor="t"/>
          <a:lstStyle/>
          <a:p>
            <a:pPr algn="l" indent="0" marL="0">
              <a:lnSpc>
                <a:spcPct val="105000"/>
              </a:lnSpc>
              <a:spcAft>
                <a:spcPts val="1200"/>
              </a:spcAft>
              <a:buNone/>
            </a:pPr>
            <a:r>
              <a:rPr lang="en-US" sz="2200" b="1" dirty="0">
                <a:solidFill>
                  <a:srgbClr val="E03131"/>
                </a:solidFill>
                <a:latin typeface="Kalam" pitchFamily="34" charset="0"/>
                <a:ea typeface="Kalam" pitchFamily="34" charset="-122"/>
                <a:cs typeface="Kalam" pitchFamily="34" charset="-120"/>
              </a:rPr>
              <a:t>− En contra</a:t>
            </a:r>
            <a:endParaRPr lang="en-US" sz="2200" dirty="0"/>
          </a:p>
          <a:p>
            <a:pPr algn="l" marL="228600" indent="-228600">
              <a:lnSpc>
                <a:spcPct val="105000"/>
              </a:lnSpc>
              <a:spcAft>
                <a:spcPts val="1000"/>
              </a:spcAft>
              <a:buSzPct val="100000"/>
              <a:buChar char="•"/>
            </a:pPr>
            <a:r>
              <a:rPr lang="en-US" sz="1500" dirty="0">
                <a:solidFill>
                  <a:srgbClr val="1E1E1E"/>
                </a:solidFill>
                <a:latin typeface="Nunito" pitchFamily="34" charset="0"/>
                <a:ea typeface="Nunito" pitchFamily="34" charset="-122"/>
                <a:cs typeface="Nunito" pitchFamily="34" charset="-120"/>
              </a:rPr>
              <a:t>Memoria O(n²): hasta decenas de miles de puntos.</a:t>
            </a:r>
            <a:endParaRPr lang="en-US" sz="2200" dirty="0"/>
          </a:p>
          <a:p>
            <a:pPr algn="l" marL="228600" indent="-228600">
              <a:lnSpc>
                <a:spcPct val="105000"/>
              </a:lnSpc>
              <a:spcAft>
                <a:spcPts val="1000"/>
              </a:spcAft>
              <a:buSzPct val="100000"/>
              <a:buChar char="•"/>
            </a:pPr>
            <a:r>
              <a:rPr lang="en-US" sz="1500" dirty="0">
                <a:solidFill>
                  <a:srgbClr val="1E1E1E"/>
                </a:solidFill>
                <a:latin typeface="Nunito" pitchFamily="34" charset="0"/>
                <a:ea typeface="Nunito" pitchFamily="34" charset="-122"/>
                <a:cs typeface="Nunito" pitchFamily="34" charset="-120"/>
              </a:rPr>
              <a:t>Las fusiones son irreversibles.</a:t>
            </a:r>
            <a:endParaRPr lang="en-US" sz="2200" dirty="0"/>
          </a:p>
          <a:p>
            <a:pPr algn="l" marL="228600" indent="-228600">
              <a:lnSpc>
                <a:spcPct val="105000"/>
              </a:lnSpc>
              <a:spcAft>
                <a:spcPts val="1000"/>
              </a:spcAft>
              <a:buSzPct val="100000"/>
              <a:buChar char="•"/>
            </a:pPr>
            <a:r>
              <a:rPr lang="en-US" sz="1500" dirty="0">
                <a:solidFill>
                  <a:srgbClr val="1E1E1E"/>
                </a:solidFill>
                <a:latin typeface="Nunito" pitchFamily="34" charset="0"/>
                <a:ea typeface="Nunito" pitchFamily="34" charset="-122"/>
                <a:cs typeface="Nunito" pitchFamily="34" charset="-120"/>
              </a:rPr>
              <a:t>Muy sensible al criterio de enlace.</a:t>
            </a:r>
            <a:endParaRPr lang="en-US" sz="2200" dirty="0"/>
          </a:p>
          <a:p>
            <a:pPr algn="l" marL="228600" indent="-228600">
              <a:lnSpc>
                <a:spcPct val="105000"/>
              </a:lnSpc>
              <a:spcAft>
                <a:spcPts val="1000"/>
              </a:spcAft>
              <a:buSzPct val="100000"/>
              <a:buChar char="•"/>
            </a:pPr>
            <a:r>
              <a:rPr lang="en-US" sz="1500" dirty="0">
                <a:solidFill>
                  <a:srgbClr val="1E1E1E"/>
                </a:solidFill>
                <a:latin typeface="Nunito" pitchFamily="34" charset="0"/>
                <a:ea typeface="Nunito" pitchFamily="34" charset="-122"/>
                <a:cs typeface="Nunito" pitchFamily="34" charset="-120"/>
              </a:rPr>
              <a:t>Sin predict() para datos nuevos.</a:t>
            </a:r>
            <a:endParaRPr lang="en-US" sz="2200" dirty="0"/>
          </a:p>
        </p:txBody>
      </p:sp>
      <p:sp>
        <p:nvSpPr>
          <p:cNvPr id="6" name="Text 3"/>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16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F3F5"/>
        </a:solidFill>
      </p:bgPr>
    </p:bg>
    <p:spTree>
      <p:nvGrpSpPr>
        <p:cNvPr id="1" name=""/>
        <p:cNvGrpSpPr/>
        <p:nvPr/>
      </p:nvGrpSpPr>
      <p:grpSpPr>
        <a:xfrm>
          <a:off x="0" y="0"/>
          <a:ext cx="0" cy="0"/>
          <a:chOff x="0" y="0"/>
          <a:chExt cx="0" cy="0"/>
        </a:xfrm>
      </p:grpSpPr>
      <p:sp>
        <p:nvSpPr>
          <p:cNvPr id="3" name="Text 0"/>
          <p:cNvSpPr txBox="1"/>
          <p:nvPr/>
        </p:nvSpPr>
        <p:spPr>
          <a:xfrm>
            <a:off x="812800" y="812800"/>
            <a:ext cx="10566400" cy="603250"/>
          </a:xfrm>
          <a:prstGeom prst="rect">
            <a:avLst/>
          </a:prstGeom>
          <a:noFill/>
          <a:ln/>
        </p:spPr>
        <p:txBody>
          <a:bodyPr wrap="square" lIns="0" tIns="0" rIns="0" bIns="0" rtlCol="0" anchor="t"/>
          <a:lstStyle/>
          <a:p>
            <a:pPr algn="l" indent="0" marL="0">
              <a:lnSpc>
                <a:spcPct val="100000"/>
              </a:lnSpc>
              <a:buNone/>
            </a:pPr>
            <a:r>
              <a:rPr lang="en-US" sz="3800" b="1" dirty="0">
                <a:solidFill>
                  <a:srgbClr val="1E1E1E"/>
                </a:solidFill>
                <a:latin typeface="Kalam" pitchFamily="34" charset="0"/>
                <a:ea typeface="Kalam" pitchFamily="34" charset="-122"/>
                <a:cs typeface="Kalam" pitchFamily="34" charset="-120"/>
              </a:rPr>
              <a:t>Todo está en el repositorio</a:t>
            </a:r>
            <a:endParaRPr lang="en-US" sz="3800" dirty="0"/>
          </a:p>
        </p:txBody>
      </p:sp>
      <p:sp>
        <p:nvSpPr>
          <p:cNvPr id="4" name="Text 1"/>
          <p:cNvSpPr/>
          <p:nvPr/>
        </p:nvSpPr>
        <p:spPr>
          <a:xfrm rot="-30000">
            <a:off x="812800" y="1714500"/>
            <a:ext cx="5181600" cy="1257300"/>
          </a:xfrm>
          <a:prstGeom prst="roundRect">
            <a:avLst>
              <a:gd name="adj" fmla="val 8081"/>
            </a:avLst>
          </a:prstGeom>
          <a:solidFill>
            <a:srgbClr val="FFFFFF"/>
          </a:solidFill>
          <a:ln w="28575">
            <a:solidFill>
              <a:srgbClr val="1E1E1E"/>
            </a:solidFill>
          </a:ln>
        </p:spPr>
        <p:txBody>
          <a:bodyPr wrap="square" lIns="190500" tIns="190500" rIns="190500" bIns="190500" rtlCol="0" anchor="t"/>
          <a:lstStyle/>
          <a:p>
            <a:pPr algn="l" indent="0" marL="0">
              <a:lnSpc>
                <a:spcPct val="105000"/>
              </a:lnSpc>
              <a:spcAft>
                <a:spcPts val="400"/>
              </a:spcAft>
              <a:buNone/>
            </a:pPr>
            <a:r>
              <a:rPr lang="en-US" sz="2000" b="1" dirty="0">
                <a:solidFill>
                  <a:srgbClr val="1971C2"/>
                </a:solidFill>
                <a:latin typeface="Kalam" pitchFamily="34" charset="0"/>
                <a:ea typeface="Kalam" pitchFamily="34" charset="-122"/>
                <a:cs typeface="Kalam" pitchFamily="34" charset="-120"/>
              </a:rPr>
              <a:t>Pseudocódigo</a:t>
            </a:r>
            <a:endParaRPr lang="en-US" sz="2000" dirty="0"/>
          </a:p>
          <a:p>
            <a:pPr algn="l" indent="0" marL="0">
              <a:lnSpc>
                <a:spcPct val="105000"/>
              </a:lnSpc>
              <a:spcAft>
                <a:spcPts val="400"/>
              </a:spcAft>
              <a:buNone/>
            </a:pPr>
            <a:r>
              <a:rPr lang="en-US" sz="1400" u="sng" dirty="0">
                <a:solidFill>
                  <a:srgbClr val="1971C2"/>
                </a:solidFill>
                <a:latin typeface="Nunito" pitchFamily="34" charset="0"/>
                <a:ea typeface="Nunito" pitchFamily="34" charset="-122"/>
                <a:cs typeface="Nuni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docs/pseudocodigo.md</a:t>
            </a:r>
            <a:endParaRPr lang="en-US" sz="2000" dirty="0"/>
          </a:p>
          <a:p>
            <a:pPr algn="l" indent="0" marL="0">
              <a:lnSpc>
                <a:spcPct val="105000"/>
              </a:lnSpc>
              <a:buNone/>
            </a:pPr>
            <a:r>
              <a:rPr lang="en-US" sz="1200" dirty="0">
                <a:solidFill>
                  <a:srgbClr val="495057"/>
                </a:solidFill>
                <a:latin typeface="Nunito" pitchFamily="34" charset="0"/>
                <a:ea typeface="Nunito" pitchFamily="34" charset="-122"/>
                <a:cs typeface="Nunito" pitchFamily="34" charset="-120"/>
              </a:rPr>
              <a:t>Algoritmo, Lance–Williams, ejemplo a mano.</a:t>
            </a:r>
            <a:endParaRPr lang="en-US" sz="2000" dirty="0"/>
          </a:p>
        </p:txBody>
      </p:sp>
      <p:sp>
        <p:nvSpPr>
          <p:cNvPr id="5" name="Text 2"/>
          <p:cNvSpPr/>
          <p:nvPr/>
        </p:nvSpPr>
        <p:spPr>
          <a:xfrm rot="30000">
            <a:off x="6197600" y="1714500"/>
            <a:ext cx="5181600" cy="1257300"/>
          </a:xfrm>
          <a:prstGeom prst="roundRect">
            <a:avLst>
              <a:gd name="adj" fmla="val 8081"/>
            </a:avLst>
          </a:prstGeom>
          <a:solidFill>
            <a:srgbClr val="FFFFFF"/>
          </a:solidFill>
          <a:ln w="28575">
            <a:solidFill>
              <a:srgbClr val="1E1E1E"/>
            </a:solidFill>
          </a:ln>
        </p:spPr>
        <p:txBody>
          <a:bodyPr wrap="square" lIns="190500" tIns="190500" rIns="190500" bIns="190500" rtlCol="0" anchor="t"/>
          <a:lstStyle/>
          <a:p>
            <a:pPr algn="l" indent="0" marL="0">
              <a:lnSpc>
                <a:spcPct val="105000"/>
              </a:lnSpc>
              <a:spcAft>
                <a:spcPts val="400"/>
              </a:spcAft>
              <a:buNone/>
            </a:pPr>
            <a:r>
              <a:rPr lang="en-US" sz="2000" b="1" dirty="0">
                <a:solidFill>
                  <a:srgbClr val="E8590C"/>
                </a:solidFill>
                <a:latin typeface="Kalam" pitchFamily="34" charset="0"/>
                <a:ea typeface="Kalam" pitchFamily="34" charset="-122"/>
                <a:cs typeface="Kalam" pitchFamily="34" charset="-120"/>
              </a:rPr>
              <a:t>Diagramas</a:t>
            </a:r>
            <a:endParaRPr lang="en-US" sz="2000" dirty="0"/>
          </a:p>
          <a:p>
            <a:pPr algn="l" indent="0" marL="0">
              <a:lnSpc>
                <a:spcPct val="105000"/>
              </a:lnSpc>
              <a:spcAft>
                <a:spcPts val="400"/>
              </a:spcAft>
              <a:buNone/>
            </a:pPr>
            <a:r>
              <a:rPr lang="en-US" sz="1400" u="sng" dirty="0">
                <a:solidFill>
                  <a:srgbClr val="1971C2"/>
                </a:solidFill>
                <a:latin typeface="Nunito" pitchFamily="34" charset="0"/>
                <a:ea typeface="Nunito" pitchFamily="34" charset="-122"/>
                <a:cs typeface="Nun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docs/diagramas.md</a:t>
            </a:r>
            <a:endParaRPr lang="en-US" sz="2000" dirty="0"/>
          </a:p>
          <a:p>
            <a:pPr algn="l" indent="0" marL="0">
              <a:lnSpc>
                <a:spcPct val="105000"/>
              </a:lnSpc>
              <a:buNone/>
            </a:pPr>
            <a:r>
              <a:rPr lang="en-US" sz="1200" dirty="0">
                <a:solidFill>
                  <a:srgbClr val="495057"/>
                </a:solidFill>
                <a:latin typeface="Nunito" pitchFamily="34" charset="0"/>
                <a:ea typeface="Nunito" pitchFamily="34" charset="-122"/>
                <a:cs typeface="Nunito" pitchFamily="34" charset="-120"/>
              </a:rPr>
              <a:t>8 diagramas en Mermaid para Excalidraw.</a:t>
            </a:r>
            <a:endParaRPr lang="en-US" sz="2000" dirty="0"/>
          </a:p>
        </p:txBody>
      </p:sp>
      <p:sp>
        <p:nvSpPr>
          <p:cNvPr id="6" name="Text 3"/>
          <p:cNvSpPr/>
          <p:nvPr/>
        </p:nvSpPr>
        <p:spPr>
          <a:xfrm rot="24000">
            <a:off x="812800" y="3149600"/>
            <a:ext cx="5181600" cy="1257300"/>
          </a:xfrm>
          <a:prstGeom prst="roundRect">
            <a:avLst>
              <a:gd name="adj" fmla="val 8081"/>
            </a:avLst>
          </a:prstGeom>
          <a:solidFill>
            <a:srgbClr val="FFFFFF"/>
          </a:solidFill>
          <a:ln w="28575">
            <a:solidFill>
              <a:srgbClr val="1E1E1E"/>
            </a:solidFill>
          </a:ln>
        </p:spPr>
        <p:txBody>
          <a:bodyPr wrap="square" lIns="190500" tIns="190500" rIns="190500" bIns="190500" rtlCol="0" anchor="t"/>
          <a:lstStyle/>
          <a:p>
            <a:pPr algn="l" indent="0" marL="0">
              <a:lnSpc>
                <a:spcPct val="105000"/>
              </a:lnSpc>
              <a:spcAft>
                <a:spcPts val="400"/>
              </a:spcAft>
              <a:buNone/>
            </a:pPr>
            <a:r>
              <a:rPr lang="en-US" sz="2000" b="1" dirty="0">
                <a:solidFill>
                  <a:srgbClr val="6741D9"/>
                </a:solidFill>
                <a:latin typeface="Kalam" pitchFamily="34" charset="0"/>
                <a:ea typeface="Kalam" pitchFamily="34" charset="-122"/>
                <a:cs typeface="Kalam" pitchFamily="34" charset="-120"/>
              </a:rPr>
              <a:t>Notebook</a:t>
            </a:r>
            <a:endParaRPr lang="en-US" sz="2000" dirty="0"/>
          </a:p>
          <a:p>
            <a:pPr algn="l" indent="0" marL="0">
              <a:lnSpc>
                <a:spcPct val="105000"/>
              </a:lnSpc>
              <a:spcAft>
                <a:spcPts val="400"/>
              </a:spcAft>
              <a:buNone/>
            </a:pPr>
            <a:r>
              <a:rPr lang="en-US" sz="1400" u="sng" dirty="0">
                <a:solidFill>
                  <a:srgbClr val="1971C2"/>
                </a:solidFill>
                <a:latin typeface="Nunito" pitchFamily="34" charset="0"/>
                <a:ea typeface="Nunito" pitchFamily="34" charset="-122"/>
                <a:cs typeface="Nunito" pitchFamily="34" charset="-120"/>
                <a:hlinkClick r:id="rId3" invalidUrl="" action="" tgtFrame="" tooltip="" history="1" highlightClick="0" endSnd="0">
                  <a:extLst>
                    <a:ext uri="{A12FA001-AC4F-418D-AE19-62706E023703}">
                      <ahyp:hlinkClr xmlns:ahyp="http://schemas.microsoft.com/office/drawing/2018/hyperlinkcolor" val="tx"/>
                    </a:ext>
                  </a:extLst>
                </a:hlinkClick>
              </a:rPr>
              <a:t>notebooks/clustering_jerarquico.ipynb</a:t>
            </a:r>
            <a:endParaRPr lang="en-US" sz="2000" dirty="0"/>
          </a:p>
          <a:p>
            <a:pPr algn="l" indent="0" marL="0">
              <a:lnSpc>
                <a:spcPct val="105000"/>
              </a:lnSpc>
              <a:buNone/>
            </a:pPr>
            <a:r>
              <a:rPr lang="en-US" sz="1200" dirty="0">
                <a:solidFill>
                  <a:srgbClr val="495057"/>
                </a:solidFill>
                <a:latin typeface="Nunito" pitchFamily="34" charset="0"/>
                <a:ea typeface="Nunito" pitchFamily="34" charset="-122"/>
                <a:cs typeface="Nunito" pitchFamily="34" charset="-120"/>
              </a:rPr>
              <a:t>Implementación guiada con scikit-learn.</a:t>
            </a:r>
            <a:endParaRPr lang="en-US" sz="2000" dirty="0"/>
          </a:p>
        </p:txBody>
      </p:sp>
      <p:sp>
        <p:nvSpPr>
          <p:cNvPr id="7" name="Text 4"/>
          <p:cNvSpPr/>
          <p:nvPr/>
        </p:nvSpPr>
        <p:spPr>
          <a:xfrm rot="-24000">
            <a:off x="6197600" y="3149600"/>
            <a:ext cx="5181600" cy="1257300"/>
          </a:xfrm>
          <a:prstGeom prst="roundRect">
            <a:avLst>
              <a:gd name="adj" fmla="val 8081"/>
            </a:avLst>
          </a:prstGeom>
          <a:solidFill>
            <a:srgbClr val="FFFFFF"/>
          </a:solidFill>
          <a:ln w="28575">
            <a:solidFill>
              <a:srgbClr val="1E1E1E"/>
            </a:solidFill>
          </a:ln>
        </p:spPr>
        <p:txBody>
          <a:bodyPr wrap="square" lIns="190500" tIns="190500" rIns="190500" bIns="190500" rtlCol="0" anchor="t"/>
          <a:lstStyle/>
          <a:p>
            <a:pPr algn="l" indent="0" marL="0">
              <a:lnSpc>
                <a:spcPct val="105000"/>
              </a:lnSpc>
              <a:spcAft>
                <a:spcPts val="400"/>
              </a:spcAft>
              <a:buNone/>
            </a:pPr>
            <a:r>
              <a:rPr lang="en-US" sz="2000" b="1" dirty="0">
                <a:solidFill>
                  <a:srgbClr val="2F9E44"/>
                </a:solidFill>
                <a:latin typeface="Kalam" pitchFamily="34" charset="0"/>
                <a:ea typeface="Kalam" pitchFamily="34" charset="-122"/>
                <a:cs typeface="Kalam" pitchFamily="34" charset="-120"/>
              </a:rPr>
              <a:t>Repositorio</a:t>
            </a:r>
            <a:endParaRPr lang="en-US" sz="2000" dirty="0"/>
          </a:p>
          <a:p>
            <a:pPr algn="l" indent="0" marL="0">
              <a:lnSpc>
                <a:spcPct val="105000"/>
              </a:lnSpc>
              <a:spcAft>
                <a:spcPts val="400"/>
              </a:spcAft>
              <a:buNone/>
            </a:pPr>
            <a:r>
              <a:rPr lang="en-US" sz="1400" u="sng" dirty="0">
                <a:solidFill>
                  <a:srgbClr val="1971C2"/>
                </a:solidFill>
                <a:latin typeface="Nunito" pitchFamily="34" charset="0"/>
                <a:ea typeface="Nunito" pitchFamily="34" charset="-122"/>
                <a:cs typeface="Nunito" pitchFamily="34" charset="-120"/>
                <a:hlinkClick r:id="rId4" invalidUrl="" action="" tgtFrame="" tooltip="" history="1" highlightClick="0" endSnd="0">
                  <a:extLst>
                    <a:ext uri="{A12FA001-AC4F-418D-AE19-62706E023703}">
                      <ahyp:hlinkClr xmlns:ahyp="http://schemas.microsoft.com/office/drawing/2018/hyperlinkcolor" val="tx"/>
                    </a:ext>
                  </a:extLst>
                </a:hlinkClick>
              </a:rPr>
              <a:t>didier-hierarchical-clustering-101</a:t>
            </a:r>
            <a:endParaRPr lang="en-US" sz="2000" dirty="0"/>
          </a:p>
          <a:p>
            <a:pPr algn="l" indent="0" marL="0">
              <a:lnSpc>
                <a:spcPct val="105000"/>
              </a:lnSpc>
              <a:buNone/>
            </a:pPr>
            <a:r>
              <a:rPr lang="en-US" sz="1200" dirty="0">
                <a:solidFill>
                  <a:srgbClr val="495057"/>
                </a:solidFill>
                <a:latin typeface="Nunito" pitchFamily="34" charset="0"/>
                <a:ea typeface="Nunito" pitchFamily="34" charset="-122"/>
                <a:cs typeface="Nunito" pitchFamily="34" charset="-120"/>
              </a:rPr>
              <a:t>README con instrucciones de ejecución.</a:t>
            </a:r>
            <a:endParaRPr lang="en-US" sz="2000" dirty="0"/>
          </a:p>
        </p:txBody>
      </p:sp>
      <p:sp>
        <p:nvSpPr>
          <p:cNvPr id="8" name="Text 5"/>
          <p:cNvSpPr txBox="1"/>
          <p:nvPr/>
        </p:nvSpPr>
        <p:spPr>
          <a:xfrm>
            <a:off x="812800" y="4762500"/>
            <a:ext cx="10566400" cy="571500"/>
          </a:xfrm>
          <a:prstGeom prst="rect">
            <a:avLst/>
          </a:prstGeom>
          <a:noFill/>
          <a:ln/>
        </p:spPr>
        <p:txBody>
          <a:bodyPr wrap="square" lIns="0" tIns="0" rIns="0" bIns="0" rtlCol="0" anchor="t"/>
          <a:lstStyle/>
          <a:p>
            <a:pPr algn="l" indent="0" marL="0">
              <a:lnSpc>
                <a:spcPct val="100000"/>
              </a:lnSpc>
              <a:buNone/>
            </a:pPr>
            <a:r>
              <a:rPr lang="en-US" sz="2800" b="1" dirty="0">
                <a:solidFill>
                  <a:srgbClr val="1E1E1E"/>
                </a:solidFill>
                <a:latin typeface="Kalam" pitchFamily="34" charset="0"/>
                <a:ea typeface="Kalam" pitchFamily="34" charset="-122"/>
                <a:cs typeface="Kalam" pitchFamily="34" charset="-120"/>
              </a:rPr>
              <a:t>¿Preguntas?</a:t>
            </a:r>
            <a:endParaRPr lang="en-US" sz="2800" dirty="0"/>
          </a:p>
        </p:txBody>
      </p:sp>
      <p:sp>
        <p:nvSpPr>
          <p:cNvPr id="9" name="Text 6"/>
          <p:cNvSpPr txBox="1"/>
          <p:nvPr/>
        </p:nvSpPr>
        <p:spPr>
          <a:xfrm>
            <a:off x="812800" y="6248400"/>
            <a:ext cx="10566400" cy="254000"/>
          </a:xfrm>
          <a:prstGeom prst="rect">
            <a:avLst/>
          </a:prstGeom>
          <a:noFill/>
          <a:ln/>
        </p:spPr>
        <p:txBody>
          <a:bodyPr wrap="square" lIns="0" tIns="0" rIns="0" bIns="0" rtlCol="0" anchor="t"/>
          <a:lstStyle/>
          <a:p>
            <a:pPr algn="l" indent="0" marL="0">
              <a:lnSpc>
                <a:spcPct val="100000"/>
              </a:lnSpc>
              <a:buNone/>
            </a:pPr>
            <a:r>
              <a:rPr lang="en-US" sz="1200" dirty="0">
                <a:solidFill>
                  <a:srgbClr val="868E96"/>
                </a:solidFill>
                <a:latin typeface="Nunito" pitchFamily="34" charset="0"/>
                <a:ea typeface="Nunito" pitchFamily="34" charset="-122"/>
                <a:cs typeface="Nunito" pitchFamily="34" charset="-120"/>
              </a:rPr>
              <a:t>Clustering jerárquico · 17 / 17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Clustering Jerárquico</dc:title>
  <dc:subject>PptxGenJS Presentation</dc:subject>
  <dc:creator>Didier José Torres Parodis</dc:creator>
  <cp:lastModifiedBy>Didier José Torres Parodis</cp:lastModifiedBy>
  <cp:revision>1</cp:revision>
  <dcterms:created xsi:type="dcterms:W3CDTF">2026-09-30T21:30:07Z</dcterms:created>
  <dcterms:modified xsi:type="dcterms:W3CDTF">2026-09-30T21:30:07Z</dcterms:modified>
</cp:coreProperties>
</file>